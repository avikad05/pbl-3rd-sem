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61" autoAdjust="0"/>
    <p:restoredTop sz="94660"/>
  </p:normalViewPr>
  <p:slideViewPr>
    <p:cSldViewPr>
      <p:cViewPr varScale="1">
        <p:scale>
          <a:sx n="160" d="100"/>
          <a:sy n="160" d="100"/>
        </p:scale>
        <p:origin x="907" y="11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ika51110@outlook.com" userId="a0877c796eb9cd59" providerId="LiveId" clId="{798FFC09-851C-4218-A270-ED70E9738B1E}"/>
    <pc:docChg chg="modSld">
      <pc:chgData name="avika51110@outlook.com" userId="a0877c796eb9cd59" providerId="LiveId" clId="{798FFC09-851C-4218-A270-ED70E9738B1E}" dt="2026-10-13T17:46:49.084" v="3" actId="20577"/>
      <pc:docMkLst>
        <pc:docMk/>
      </pc:docMkLst>
      <pc:sldChg chg="modSp mod">
        <pc:chgData name="avika51110@outlook.com" userId="a0877c796eb9cd59" providerId="LiveId" clId="{798FFC09-851C-4218-A270-ED70E9738B1E}" dt="2026-10-13T17:46:49.084" v="3" actId="20577"/>
        <pc:sldMkLst>
          <pc:docMk/>
          <pc:sldMk cId="0" sldId="256"/>
        </pc:sldMkLst>
        <pc:spChg chg="mod">
          <ac:chgData name="avika51110@outlook.com" userId="a0877c796eb9cd59" providerId="LiveId" clId="{798FFC09-851C-4218-A270-ED70E9738B1E}" dt="2026-10-13T17:46:49.084" v="3" actId="20577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9T11:36:46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24575,'3'8'0,"2"1"-8191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9T11:36:55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24575,'7'-3'0,"3"-2"-8191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9194" y="988819"/>
            <a:ext cx="2178050" cy="1950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99392" y="72605"/>
            <a:ext cx="223202" cy="22320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94" y="302841"/>
            <a:ext cx="378587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41079" y="1517291"/>
            <a:ext cx="2697479" cy="694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5300" y="3133522"/>
            <a:ext cx="311531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7802" y="3133522"/>
            <a:ext cx="227329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/10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" y="-1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60073" y="0"/>
                </a:lnTo>
              </a:path>
            </a:pathLst>
          </a:custGeom>
          <a:ln w="37958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286" y="131482"/>
            <a:ext cx="431997" cy="40322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2441" y="419630"/>
            <a:ext cx="447484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60" dirty="0"/>
              <a:t>PROJECT-</a:t>
            </a:r>
            <a:r>
              <a:rPr sz="2450" spc="65" dirty="0"/>
              <a:t>BASED</a:t>
            </a:r>
            <a:r>
              <a:rPr sz="2450" spc="-345" dirty="0"/>
              <a:t> </a:t>
            </a:r>
            <a:r>
              <a:rPr sz="2450" spc="-10" dirty="0"/>
              <a:t>LEARNING</a:t>
            </a:r>
            <a:endParaRPr sz="2450" dirty="0"/>
          </a:p>
        </p:txBody>
      </p:sp>
      <p:sp>
        <p:nvSpPr>
          <p:cNvPr id="5" name="object 5"/>
          <p:cNvSpPr txBox="1"/>
          <p:nvPr/>
        </p:nvSpPr>
        <p:spPr>
          <a:xfrm>
            <a:off x="769540" y="1009613"/>
            <a:ext cx="4551044" cy="1118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700" dirty="0">
                <a:latin typeface="Trebuchet MS"/>
                <a:cs typeface="Trebuchet MS"/>
              </a:rPr>
              <a:t>PHASE-I</a:t>
            </a:r>
            <a:r>
              <a:rPr sz="1700" spc="2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EVALUATION</a:t>
            </a:r>
            <a:endParaRPr sz="17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600"/>
              </a:spcBef>
            </a:pPr>
            <a:r>
              <a:rPr lang="en-IN" sz="1600" b="1"/>
              <a:t> </a:t>
            </a:r>
            <a:r>
              <a:rPr lang="en-IN" sz="1600" b="1" dirty="0"/>
              <a:t>Emergency Call Detection &amp; Priority Routing</a:t>
            </a:r>
          </a:p>
          <a:p>
            <a:pPr algn="ctr">
              <a:lnSpc>
                <a:spcPct val="100000"/>
              </a:lnSpc>
              <a:spcBef>
                <a:spcPts val="1600"/>
              </a:spcBef>
            </a:pPr>
            <a:r>
              <a:rPr sz="1200" b="1" spc="-30" dirty="0">
                <a:solidFill>
                  <a:srgbClr val="133768"/>
                </a:solidFill>
                <a:latin typeface="Tahoma"/>
                <a:cs typeface="Tahoma"/>
              </a:rPr>
              <a:t>Team</a:t>
            </a:r>
            <a:r>
              <a:rPr sz="1200" b="1" spc="-4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200" b="1" spc="-40" dirty="0">
                <a:solidFill>
                  <a:srgbClr val="133768"/>
                </a:solidFill>
                <a:latin typeface="Tahoma"/>
                <a:cs typeface="Tahoma"/>
              </a:rPr>
              <a:t>ID:</a:t>
            </a:r>
            <a:r>
              <a:rPr sz="1200" b="1" spc="-4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lang="en-IN" sz="1200" b="1" spc="60" dirty="0">
                <a:solidFill>
                  <a:srgbClr val="133768"/>
                </a:solidFill>
                <a:latin typeface="Tahoma"/>
                <a:cs typeface="Tahoma"/>
              </a:rPr>
              <a:t>T010</a:t>
            </a:r>
            <a:endParaRPr sz="1200" b="1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1255" y="2460625"/>
            <a:ext cx="3117215" cy="4927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b="1" spc="-65" dirty="0">
                <a:latin typeface="Tahoma"/>
                <a:cs typeface="Tahoma"/>
              </a:rPr>
              <a:t>Department</a:t>
            </a:r>
            <a:r>
              <a:rPr sz="1100" b="1" spc="1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of</a:t>
            </a:r>
            <a:r>
              <a:rPr sz="1100" b="1" spc="15" dirty="0">
                <a:latin typeface="Tahoma"/>
                <a:cs typeface="Tahoma"/>
              </a:rPr>
              <a:t> </a:t>
            </a:r>
            <a:r>
              <a:rPr sz="1100" b="1" spc="-60" dirty="0">
                <a:latin typeface="Tahoma"/>
                <a:cs typeface="Tahoma"/>
              </a:rPr>
              <a:t>Computer</a:t>
            </a:r>
            <a:r>
              <a:rPr sz="1100" b="1" spc="10" dirty="0">
                <a:latin typeface="Tahoma"/>
                <a:cs typeface="Tahoma"/>
              </a:rPr>
              <a:t> </a:t>
            </a:r>
            <a:r>
              <a:rPr sz="1100" b="1" spc="-55" dirty="0">
                <a:latin typeface="Tahoma"/>
                <a:cs typeface="Tahoma"/>
              </a:rPr>
              <a:t>Science</a:t>
            </a:r>
            <a:r>
              <a:rPr sz="1100" b="1" spc="15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&amp;</a:t>
            </a:r>
            <a:r>
              <a:rPr sz="1100" b="1" spc="1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Engineering</a:t>
            </a:r>
            <a:endParaRPr sz="11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25" dirty="0">
                <a:latin typeface="Tahoma"/>
                <a:cs typeface="Tahoma"/>
              </a:rPr>
              <a:t>Graphic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Era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(Deemed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University), </a:t>
            </a:r>
            <a:r>
              <a:rPr sz="1100" spc="-10" dirty="0">
                <a:latin typeface="Tahoma"/>
                <a:cs typeface="Tahoma"/>
              </a:rPr>
              <a:t>Dehradun</a:t>
            </a:r>
            <a:endParaRPr sz="11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800" spc="-10" dirty="0">
                <a:latin typeface="Arial MT"/>
                <a:cs typeface="Arial MT"/>
              </a:rPr>
              <a:t>Academic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40" dirty="0">
                <a:latin typeface="Arial MT"/>
                <a:cs typeface="Arial MT"/>
              </a:rPr>
              <a:t>Session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35" dirty="0">
                <a:latin typeface="Arial MT"/>
                <a:cs typeface="Arial MT"/>
              </a:rPr>
              <a:t>2026–</a:t>
            </a:r>
            <a:r>
              <a:rPr sz="800" spc="-25" dirty="0">
                <a:latin typeface="Arial MT"/>
                <a:cs typeface="Arial MT"/>
              </a:rPr>
              <a:t>27</a:t>
            </a:r>
            <a:endParaRPr sz="800" dirty="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Team</a:t>
            </a:r>
            <a:r>
              <a:rPr spc="15" dirty="0"/>
              <a:t> </a:t>
            </a:r>
            <a:r>
              <a:rPr spc="85" dirty="0"/>
              <a:t>&amp;</a:t>
            </a:r>
            <a:r>
              <a:rPr spc="15" dirty="0"/>
              <a:t> </a:t>
            </a:r>
            <a:r>
              <a:rPr spc="-20" dirty="0"/>
              <a:t>Mentor</a:t>
            </a:r>
            <a:r>
              <a:rPr spc="20" dirty="0"/>
              <a:t> </a:t>
            </a:r>
            <a:r>
              <a:rPr spc="-45" dirty="0"/>
              <a:t>Details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9193" y="1239367"/>
            <a:ext cx="2520950" cy="187960"/>
          </a:xfrm>
          <a:custGeom>
            <a:avLst/>
            <a:gdLst/>
            <a:ahLst/>
            <a:cxnLst/>
            <a:rect l="l" t="t" r="r" b="b"/>
            <a:pathLst>
              <a:path w="2520950" h="187959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7294" y="1218371"/>
            <a:ext cx="11296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80" dirty="0">
                <a:solidFill>
                  <a:srgbClr val="133768"/>
                </a:solidFill>
                <a:latin typeface="Arial MT"/>
                <a:cs typeface="Arial MT"/>
              </a:rPr>
              <a:t>Team</a:t>
            </a:r>
            <a:r>
              <a:rPr sz="1200" spc="5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40" dirty="0">
                <a:solidFill>
                  <a:srgbClr val="133768"/>
                </a:solidFill>
                <a:latin typeface="Arial MT"/>
                <a:cs typeface="Arial MT"/>
              </a:rPr>
              <a:t>Information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35999" y="1085561"/>
            <a:ext cx="2557973" cy="792430"/>
            <a:chOff x="272030" y="1414538"/>
            <a:chExt cx="2557973" cy="79243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414538"/>
              <a:ext cx="252081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72030" y="1448778"/>
              <a:ext cx="2520950" cy="758190"/>
            </a:xfrm>
            <a:custGeom>
              <a:avLst/>
              <a:gdLst/>
              <a:ahLst/>
              <a:cxnLst/>
              <a:rect l="l" t="t" r="r" b="b"/>
              <a:pathLst>
                <a:path w="2520950" h="758189">
                  <a:moveTo>
                    <a:pt x="2520810" y="0"/>
                  </a:moveTo>
                  <a:lnTo>
                    <a:pt x="0" y="0"/>
                  </a:lnTo>
                  <a:lnTo>
                    <a:pt x="0" y="707238"/>
                  </a:lnTo>
                  <a:lnTo>
                    <a:pt x="4008" y="726963"/>
                  </a:lnTo>
                  <a:lnTo>
                    <a:pt x="14922" y="743116"/>
                  </a:lnTo>
                  <a:lnTo>
                    <a:pt x="31075" y="754030"/>
                  </a:lnTo>
                  <a:lnTo>
                    <a:pt x="50800" y="758039"/>
                  </a:lnTo>
                  <a:lnTo>
                    <a:pt x="2470010" y="758039"/>
                  </a:lnTo>
                  <a:lnTo>
                    <a:pt x="2489735" y="754030"/>
                  </a:lnTo>
                  <a:lnTo>
                    <a:pt x="2505888" y="743116"/>
                  </a:lnTo>
                  <a:lnTo>
                    <a:pt x="2516802" y="726963"/>
                  </a:lnTo>
                  <a:lnTo>
                    <a:pt x="2520810" y="707238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56587" y="1232982"/>
            <a:ext cx="651510" cy="51546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spc="-45" dirty="0">
                <a:latin typeface="Tahoma"/>
                <a:cs typeface="Tahoma"/>
              </a:rPr>
              <a:t>Team</a:t>
            </a:r>
            <a:r>
              <a:rPr sz="1100" b="1" spc="-30" dirty="0">
                <a:latin typeface="Tahoma"/>
                <a:cs typeface="Tahoma"/>
              </a:rPr>
              <a:t> </a:t>
            </a:r>
            <a:r>
              <a:rPr sz="1100" b="1" spc="-25" dirty="0">
                <a:latin typeface="Tahoma"/>
                <a:cs typeface="Tahoma"/>
              </a:rPr>
              <a:t>ID: </a:t>
            </a:r>
            <a:r>
              <a:rPr sz="1100" b="1" spc="-85" dirty="0">
                <a:latin typeface="Tahoma"/>
                <a:cs typeface="Tahoma"/>
              </a:rPr>
              <a:t>Semester: </a:t>
            </a:r>
            <a:r>
              <a:rPr sz="1100" b="1" spc="-10" dirty="0">
                <a:latin typeface="Tahoma"/>
                <a:cs typeface="Tahoma"/>
              </a:rPr>
              <a:t> Domain: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1288" y="1239574"/>
            <a:ext cx="1667063" cy="51809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1100" b="1" spc="60" dirty="0">
                <a:solidFill>
                  <a:schemeClr val="tx1"/>
                </a:solidFill>
                <a:latin typeface="Tahoma"/>
                <a:cs typeface="Tahoma"/>
              </a:rPr>
              <a:t>T010</a:t>
            </a:r>
            <a:endParaRPr sz="1100" b="1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</a:pPr>
            <a:r>
              <a:rPr lang="en-IN" sz="1100" b="1" i="1" spc="-20" dirty="0">
                <a:solidFill>
                  <a:schemeClr val="tx1"/>
                </a:solidFill>
                <a:latin typeface="Tahoma"/>
                <a:cs typeface="Tahoma"/>
              </a:rPr>
              <a:t>3rd SEM</a:t>
            </a:r>
            <a:endParaRPr lang="en-IN" sz="1100" b="1" i="1" spc="-2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</a:pPr>
            <a:r>
              <a:rPr lang="en-IN" sz="1100" b="1" i="1" spc="-20" dirty="0">
                <a:solidFill>
                  <a:schemeClr val="tx1"/>
                </a:solidFill>
                <a:latin typeface="Arial"/>
                <a:cs typeface="Arial"/>
              </a:rPr>
              <a:t>DS/CPP</a:t>
            </a:r>
            <a:endParaRPr sz="1100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47797" y="979105"/>
            <a:ext cx="2520950" cy="187960"/>
          </a:xfrm>
          <a:custGeom>
            <a:avLst/>
            <a:gdLst/>
            <a:ahLst/>
            <a:cxnLst/>
            <a:rect l="l" t="t" r="r" b="b"/>
            <a:pathLst>
              <a:path w="2520950" h="187959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999107" y="989131"/>
            <a:ext cx="985519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80" dirty="0">
                <a:solidFill>
                  <a:srgbClr val="133768"/>
                </a:solidFill>
                <a:latin typeface="Arial MT"/>
                <a:cs typeface="Arial MT"/>
              </a:rPr>
              <a:t>Team</a:t>
            </a:r>
            <a:r>
              <a:rPr sz="1200" spc="5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75" dirty="0">
                <a:solidFill>
                  <a:srgbClr val="133768"/>
                </a:solidFill>
                <a:latin typeface="Arial MT"/>
                <a:cs typeface="Arial MT"/>
              </a:rPr>
              <a:t>Members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42328" y="1169092"/>
            <a:ext cx="2520950" cy="726440"/>
            <a:chOff x="2930016" y="1414538"/>
            <a:chExt cx="2520950" cy="72644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414538"/>
              <a:ext cx="2520810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930016" y="1458802"/>
              <a:ext cx="2520950" cy="682625"/>
            </a:xfrm>
            <a:custGeom>
              <a:avLst/>
              <a:gdLst/>
              <a:ahLst/>
              <a:cxnLst/>
              <a:rect l="l" t="t" r="r" b="b"/>
              <a:pathLst>
                <a:path w="2520950" h="682625">
                  <a:moveTo>
                    <a:pt x="2520810" y="0"/>
                  </a:moveTo>
                  <a:lnTo>
                    <a:pt x="0" y="0"/>
                  </a:lnTo>
                  <a:lnTo>
                    <a:pt x="0" y="631376"/>
                  </a:lnTo>
                  <a:lnTo>
                    <a:pt x="4008" y="651100"/>
                  </a:lnTo>
                  <a:lnTo>
                    <a:pt x="14922" y="667253"/>
                  </a:lnTo>
                  <a:lnTo>
                    <a:pt x="31075" y="678167"/>
                  </a:lnTo>
                  <a:lnTo>
                    <a:pt x="50800" y="682176"/>
                  </a:lnTo>
                  <a:lnTo>
                    <a:pt x="2470010" y="682176"/>
                  </a:lnTo>
                  <a:lnTo>
                    <a:pt x="2489735" y="678167"/>
                  </a:lnTo>
                  <a:lnTo>
                    <a:pt x="2505888" y="667253"/>
                  </a:lnTo>
                  <a:lnTo>
                    <a:pt x="2516802" y="651100"/>
                  </a:lnTo>
                  <a:lnTo>
                    <a:pt x="2520810" y="631376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037351" y="1191308"/>
            <a:ext cx="2431872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8445" indent="-245745">
              <a:lnSpc>
                <a:spcPct val="100000"/>
              </a:lnSpc>
              <a:spcBef>
                <a:spcPts val="90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lang="en-IN" sz="1100" i="1" spc="-35" dirty="0">
                <a:solidFill>
                  <a:schemeClr val="tx1"/>
                </a:solidFill>
                <a:latin typeface="Arial"/>
                <a:cs typeface="Arial"/>
              </a:rPr>
              <a:t>Avika Dixit</a:t>
            </a:r>
            <a:r>
              <a:rPr sz="1100" i="1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chemeClr val="tx1"/>
                </a:solidFill>
                <a:latin typeface="Arial"/>
                <a:cs typeface="Arial"/>
              </a:rPr>
              <a:t>–</a:t>
            </a:r>
            <a:r>
              <a:rPr sz="1100" i="1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IN" sz="1100" i="1" spc="-15" dirty="0">
                <a:solidFill>
                  <a:schemeClr val="tx1"/>
                </a:solidFill>
                <a:latin typeface="Arial"/>
                <a:cs typeface="Arial"/>
              </a:rPr>
              <a:t>2028404</a:t>
            </a:r>
            <a:endParaRPr sz="11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lang="en-IN" sz="1100" i="1" spc="-20" dirty="0">
                <a:solidFill>
                  <a:schemeClr val="tx1"/>
                </a:solidFill>
                <a:latin typeface="Arial"/>
                <a:cs typeface="Arial"/>
              </a:rPr>
              <a:t>Harshit Bisht</a:t>
            </a:r>
            <a:r>
              <a:rPr sz="1100" i="1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chemeClr val="tx1"/>
                </a:solidFill>
                <a:latin typeface="Arial"/>
                <a:cs typeface="Arial"/>
              </a:rPr>
              <a:t>–</a:t>
            </a:r>
            <a:r>
              <a:rPr sz="1100" i="1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IN" sz="1100" i="1" spc="-25" dirty="0">
                <a:solidFill>
                  <a:schemeClr val="tx1"/>
                </a:solidFill>
                <a:latin typeface="Arial"/>
                <a:cs typeface="Arial"/>
              </a:rPr>
              <a:t>2029056</a:t>
            </a:r>
            <a:endParaRPr sz="11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lang="en-IN" sz="1100" i="1" spc="-20" dirty="0">
                <a:solidFill>
                  <a:schemeClr val="tx1"/>
                </a:solidFill>
                <a:latin typeface="Arial"/>
                <a:cs typeface="Arial"/>
              </a:rPr>
              <a:t>Saksham Mittal</a:t>
            </a:r>
            <a:r>
              <a:rPr sz="1100" i="1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chemeClr val="tx1"/>
                </a:solidFill>
                <a:latin typeface="Arial"/>
                <a:cs typeface="Arial"/>
              </a:rPr>
              <a:t>–</a:t>
            </a:r>
            <a:r>
              <a:rPr sz="1100" i="1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IN" sz="1100" i="1" spc="-25" dirty="0">
                <a:solidFill>
                  <a:schemeClr val="tx1"/>
                </a:solidFill>
                <a:latin typeface="Arial"/>
                <a:cs typeface="Arial"/>
              </a:rPr>
              <a:t>2028833</a:t>
            </a:r>
            <a:endParaRPr sz="11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lang="en-IN" sz="1100" i="1" spc="-20" dirty="0">
                <a:solidFill>
                  <a:schemeClr val="tx1"/>
                </a:solidFill>
                <a:latin typeface="Arial"/>
                <a:cs typeface="Arial"/>
              </a:rPr>
              <a:t>Nitin Singh Bhandari</a:t>
            </a:r>
            <a:r>
              <a:rPr sz="1100" i="1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chemeClr val="tx1"/>
                </a:solidFill>
                <a:latin typeface="Arial"/>
                <a:cs typeface="Arial"/>
              </a:rPr>
              <a:t>–</a:t>
            </a:r>
            <a:r>
              <a:rPr sz="1100" i="1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IN" sz="1100" i="1" spc="-25" dirty="0">
                <a:solidFill>
                  <a:schemeClr val="tx1"/>
                </a:solidFill>
                <a:latin typeface="Arial"/>
                <a:cs typeface="Arial"/>
              </a:rPr>
              <a:t>2028787</a:t>
            </a:r>
            <a:endParaRPr sz="11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36000" y="2296343"/>
            <a:ext cx="5262818" cy="158699"/>
          </a:xfrm>
          <a:custGeom>
            <a:avLst/>
            <a:gdLst/>
            <a:ahLst/>
            <a:cxnLst/>
            <a:rect l="l" t="t" r="r" b="b"/>
            <a:pathLst>
              <a:path w="5142230" h="187960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141666" y="187823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69522" y="2285044"/>
            <a:ext cx="4711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solidFill>
                  <a:srgbClr val="133768"/>
                </a:solidFill>
                <a:latin typeface="Arial MT"/>
                <a:cs typeface="Arial MT"/>
              </a:rPr>
              <a:t>Mentor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00321" y="2574461"/>
            <a:ext cx="5262818" cy="252729"/>
            <a:chOff x="309193" y="2552585"/>
            <a:chExt cx="5142230" cy="252729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93" y="2552585"/>
              <a:ext cx="5141666" cy="5060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09193" y="2596859"/>
              <a:ext cx="5142230" cy="208279"/>
            </a:xfrm>
            <a:custGeom>
              <a:avLst/>
              <a:gdLst/>
              <a:ahLst/>
              <a:cxnLst/>
              <a:rect l="l" t="t" r="r" b="b"/>
              <a:pathLst>
                <a:path w="5142230" h="208280">
                  <a:moveTo>
                    <a:pt x="5141666" y="0"/>
                  </a:moveTo>
                  <a:lnTo>
                    <a:pt x="0" y="0"/>
                  </a:lnTo>
                  <a:lnTo>
                    <a:pt x="0" y="157478"/>
                  </a:lnTo>
                  <a:lnTo>
                    <a:pt x="4008" y="177203"/>
                  </a:lnTo>
                  <a:lnTo>
                    <a:pt x="14922" y="193356"/>
                  </a:lnTo>
                  <a:lnTo>
                    <a:pt x="31075" y="204270"/>
                  </a:lnTo>
                  <a:lnTo>
                    <a:pt x="50800" y="208279"/>
                  </a:lnTo>
                  <a:lnTo>
                    <a:pt x="5090865" y="208279"/>
                  </a:lnTo>
                  <a:lnTo>
                    <a:pt x="5110590" y="204270"/>
                  </a:lnTo>
                  <a:lnTo>
                    <a:pt x="5126743" y="193356"/>
                  </a:lnTo>
                  <a:lnTo>
                    <a:pt x="5137657" y="177203"/>
                  </a:lnTo>
                  <a:lnTo>
                    <a:pt x="5141666" y="157478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35999" y="2574834"/>
            <a:ext cx="3748627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i="1" dirty="0">
                <a:solidFill>
                  <a:schemeClr val="tx1"/>
                </a:solidFill>
                <a:latin typeface="Arial"/>
                <a:cs typeface="Arial"/>
              </a:rPr>
              <a:t>Ms.</a:t>
            </a:r>
            <a:r>
              <a:rPr sz="1100" b="1" i="1" spc="1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IN" sz="1100" b="1" i="1" spc="-10" dirty="0">
                <a:solidFill>
                  <a:schemeClr val="tx1"/>
                </a:solidFill>
                <a:latin typeface="Arial"/>
                <a:cs typeface="Arial"/>
              </a:rPr>
              <a:t>Priyanka Rastogi, Assistant Professor, CSE Dept </a:t>
            </a:r>
            <a:endParaRPr sz="1100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478113" y="3133522"/>
            <a:ext cx="18732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0E294E"/>
                </a:solidFill>
                <a:latin typeface="Arial MT"/>
                <a:cs typeface="Arial MT"/>
              </a:rPr>
              <a:t>2/10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80899" y="2605939"/>
            <a:ext cx="1884901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028825" algn="l"/>
              </a:tabLst>
            </a:pPr>
            <a:r>
              <a:rPr sz="1000" b="1" spc="-75" dirty="0">
                <a:latin typeface="Tahoma"/>
                <a:cs typeface="Tahoma"/>
              </a:rPr>
              <a:t>Interactions</a:t>
            </a:r>
            <a:r>
              <a:rPr sz="1000" b="1" dirty="0">
                <a:latin typeface="Tahoma"/>
                <a:cs typeface="Tahoma"/>
              </a:rPr>
              <a:t> completed</a:t>
            </a:r>
            <a:r>
              <a:rPr sz="1100" b="1" dirty="0">
                <a:latin typeface="Tahoma"/>
                <a:cs typeface="Tahoma"/>
              </a:rPr>
              <a:t>:</a:t>
            </a:r>
            <a:r>
              <a:rPr lang="en-IN" sz="1100" b="1" dirty="0">
                <a:latin typeface="Tahoma"/>
                <a:cs typeface="Tahoma"/>
              </a:rPr>
              <a:t> 3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8309" y="89776"/>
            <a:ext cx="3785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Problem</a:t>
            </a:r>
            <a:r>
              <a:rPr spc="35" dirty="0"/>
              <a:t> </a:t>
            </a:r>
            <a:r>
              <a:rPr spc="-55" dirty="0"/>
              <a:t>Statement</a:t>
            </a:r>
            <a:r>
              <a:rPr spc="40" dirty="0"/>
              <a:t> </a:t>
            </a:r>
            <a:r>
              <a:rPr spc="85" dirty="0"/>
              <a:t>&amp;</a:t>
            </a:r>
            <a:r>
              <a:rPr spc="40" dirty="0"/>
              <a:t> </a:t>
            </a:r>
            <a:r>
              <a:rPr spc="-35" dirty="0"/>
              <a:t>Motivation</a:t>
            </a:r>
          </a:p>
        </p:txBody>
      </p:sp>
      <p:sp>
        <p:nvSpPr>
          <p:cNvPr id="3" name="object 3"/>
          <p:cNvSpPr/>
          <p:nvPr/>
        </p:nvSpPr>
        <p:spPr>
          <a:xfrm flipV="1">
            <a:off x="288309" y="238233"/>
            <a:ext cx="5039995" cy="103067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93949" y="474339"/>
            <a:ext cx="5346631" cy="945143"/>
            <a:chOff x="309193" y="1205953"/>
            <a:chExt cx="5142230" cy="584835"/>
          </a:xfrm>
        </p:grpSpPr>
        <p:sp>
          <p:nvSpPr>
            <p:cNvPr id="5" name="object 5"/>
            <p:cNvSpPr/>
            <p:nvPr/>
          </p:nvSpPr>
          <p:spPr>
            <a:xfrm>
              <a:off x="309193" y="1205953"/>
              <a:ext cx="5142230" cy="187960"/>
            </a:xfrm>
            <a:custGeom>
              <a:avLst/>
              <a:gdLst/>
              <a:ahLst/>
              <a:cxnLst/>
              <a:rect l="l" t="t" r="r" b="b"/>
              <a:pathLst>
                <a:path w="5142230" h="187959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23"/>
                  </a:lnTo>
                  <a:lnTo>
                    <a:pt x="5141666" y="187823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>
                <a:highlight>
                  <a:srgbClr val="FF0000"/>
                </a:highlight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381112"/>
              <a:ext cx="5141666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3" y="1425395"/>
              <a:ext cx="5142230" cy="365125"/>
            </a:xfrm>
            <a:custGeom>
              <a:avLst/>
              <a:gdLst/>
              <a:ahLst/>
              <a:cxnLst/>
              <a:rect l="l" t="t" r="r" b="b"/>
              <a:pathLst>
                <a:path w="5142230" h="365125">
                  <a:moveTo>
                    <a:pt x="5141666" y="0"/>
                  </a:moveTo>
                  <a:lnTo>
                    <a:pt x="0" y="0"/>
                  </a:lnTo>
                  <a:lnTo>
                    <a:pt x="0" y="314161"/>
                  </a:lnTo>
                  <a:lnTo>
                    <a:pt x="4008" y="333886"/>
                  </a:lnTo>
                  <a:lnTo>
                    <a:pt x="14922" y="350039"/>
                  </a:lnTo>
                  <a:lnTo>
                    <a:pt x="31075" y="360953"/>
                  </a:lnTo>
                  <a:lnTo>
                    <a:pt x="50800" y="364962"/>
                  </a:lnTo>
                  <a:lnTo>
                    <a:pt x="5090865" y="364962"/>
                  </a:lnTo>
                  <a:lnTo>
                    <a:pt x="5110590" y="360953"/>
                  </a:lnTo>
                  <a:lnTo>
                    <a:pt x="5126743" y="350039"/>
                  </a:lnTo>
                  <a:lnTo>
                    <a:pt x="5137657" y="333886"/>
                  </a:lnTo>
                  <a:lnTo>
                    <a:pt x="5141666" y="314161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>
                <a:highlight>
                  <a:srgbClr val="FF0000"/>
                </a:highlight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88309" y="474339"/>
            <a:ext cx="5308512" cy="1040093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400" b="1" spc="-60" dirty="0">
                <a:solidFill>
                  <a:srgbClr val="133768"/>
                </a:solidFill>
                <a:latin typeface="Arial MT"/>
                <a:cs typeface="Arial MT"/>
              </a:rPr>
              <a:t>Problem</a:t>
            </a:r>
            <a:r>
              <a:rPr sz="1400" b="1" spc="30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400" b="1" spc="-10" dirty="0">
                <a:solidFill>
                  <a:srgbClr val="133768"/>
                </a:solidFill>
                <a:latin typeface="Arial MT"/>
                <a:cs typeface="Arial MT"/>
              </a:rPr>
              <a:t>Statement</a:t>
            </a:r>
            <a:endParaRPr lang="en-IN" sz="1400" b="1" spc="-10" dirty="0">
              <a:solidFill>
                <a:srgbClr val="133768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lang="en-IN" sz="1200" spc="-10" dirty="0">
                <a:solidFill>
                  <a:schemeClr val="tx1"/>
                </a:solidFill>
                <a:latin typeface="Arial MT"/>
                <a:cs typeface="Arial MT"/>
              </a:rPr>
              <a:t>Emergency Services may receive multiple duplicate, incomplete or conflicting reports about the same incidents, causing confusion and unnecessary delay in handling crisis emergencies.</a:t>
            </a:r>
            <a:endParaRPr sz="1200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12700" marR="5080">
              <a:lnSpc>
                <a:spcPct val="102600"/>
              </a:lnSpc>
              <a:spcBef>
                <a:spcPts val="180"/>
              </a:spcBef>
            </a:pPr>
            <a:r>
              <a:rPr sz="1100" i="1" spc="-10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95299" y="3133522"/>
            <a:ext cx="3978879" cy="90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700" dirty="0"/>
              <a:t>Department</a:t>
            </a:r>
            <a:r>
              <a:rPr sz="700" spc="25" dirty="0"/>
              <a:t> </a:t>
            </a:r>
            <a:r>
              <a:rPr sz="700" dirty="0"/>
              <a:t>of</a:t>
            </a:r>
            <a:r>
              <a:rPr sz="700" spc="25" dirty="0"/>
              <a:t> </a:t>
            </a:r>
            <a:r>
              <a:rPr sz="700" dirty="0"/>
              <a:t>Computer</a:t>
            </a:r>
            <a:r>
              <a:rPr sz="700" spc="25" dirty="0"/>
              <a:t> </a:t>
            </a:r>
            <a:r>
              <a:rPr sz="700" spc="-25" dirty="0"/>
              <a:t>Science</a:t>
            </a:r>
            <a:r>
              <a:rPr sz="700" spc="25" dirty="0"/>
              <a:t> </a:t>
            </a:r>
            <a:r>
              <a:rPr sz="700" spc="80" dirty="0"/>
              <a:t>&amp;</a:t>
            </a:r>
            <a:r>
              <a:rPr sz="700" spc="25" dirty="0"/>
              <a:t> </a:t>
            </a:r>
            <a:r>
              <a:rPr sz="700" spc="-10" dirty="0"/>
              <a:t>Engineering</a:t>
            </a:r>
            <a:r>
              <a:rPr sz="700" spc="25" dirty="0"/>
              <a:t> </a:t>
            </a:r>
            <a:r>
              <a:rPr sz="700" dirty="0"/>
              <a:t>—</a:t>
            </a:r>
            <a:r>
              <a:rPr sz="700" spc="25" dirty="0"/>
              <a:t> </a:t>
            </a:r>
            <a:r>
              <a:rPr sz="800" spc="-10" dirty="0"/>
              <a:t>Graphic</a:t>
            </a:r>
            <a:r>
              <a:rPr sz="700" spc="25" dirty="0"/>
              <a:t> </a:t>
            </a:r>
            <a:r>
              <a:rPr sz="700" dirty="0"/>
              <a:t>Era</a:t>
            </a:r>
            <a:r>
              <a:rPr sz="700" spc="30" dirty="0"/>
              <a:t> </a:t>
            </a:r>
            <a:r>
              <a:rPr sz="700" spc="-10" dirty="0"/>
              <a:t>(Deemed</a:t>
            </a:r>
            <a:r>
              <a:rPr sz="700" spc="25" dirty="0"/>
              <a:t> </a:t>
            </a:r>
            <a:r>
              <a:rPr sz="700" dirty="0"/>
              <a:t>to</a:t>
            </a:r>
            <a:r>
              <a:rPr sz="700" spc="25" dirty="0"/>
              <a:t> </a:t>
            </a:r>
            <a:r>
              <a:rPr sz="700" dirty="0"/>
              <a:t>be</a:t>
            </a:r>
            <a:r>
              <a:rPr sz="700" spc="25" dirty="0"/>
              <a:t> </a:t>
            </a:r>
            <a:r>
              <a:rPr sz="700" spc="-10" dirty="0"/>
              <a:t>University)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3</a:t>
            </a:fld>
            <a:r>
              <a:rPr spc="-10" dirty="0"/>
              <a:t>/10</a:t>
            </a:r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6EE1793E-2305-6442-2A12-DF0DC2A37F99}"/>
              </a:ext>
            </a:extLst>
          </p:cNvPr>
          <p:cNvSpPr txBox="1"/>
          <p:nvPr/>
        </p:nvSpPr>
        <p:spPr>
          <a:xfrm>
            <a:off x="3023297" y="1525033"/>
            <a:ext cx="2629134" cy="136383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200" b="1" spc="-45" dirty="0">
                <a:solidFill>
                  <a:srgbClr val="133768"/>
                </a:solidFill>
                <a:latin typeface="Tahoma"/>
                <a:cs typeface="Tahoma"/>
              </a:rPr>
              <a:t>Target</a:t>
            </a:r>
            <a:r>
              <a:rPr sz="1200" b="1" spc="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200" b="1" spc="-65" dirty="0">
                <a:solidFill>
                  <a:srgbClr val="133768"/>
                </a:solidFill>
                <a:latin typeface="Tahoma"/>
                <a:cs typeface="Tahoma"/>
              </a:rPr>
              <a:t>Users</a:t>
            </a:r>
            <a:r>
              <a:rPr sz="1200" b="1" spc="10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200" b="1" dirty="0">
                <a:solidFill>
                  <a:srgbClr val="133768"/>
                </a:solidFill>
                <a:latin typeface="Tahoma"/>
                <a:cs typeface="Tahoma"/>
              </a:rPr>
              <a:t>/</a:t>
            </a:r>
            <a:r>
              <a:rPr sz="1200" b="1" spc="10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200" b="1" spc="-60" dirty="0">
                <a:solidFill>
                  <a:srgbClr val="133768"/>
                </a:solidFill>
                <a:latin typeface="Tahoma"/>
                <a:cs typeface="Tahoma"/>
              </a:rPr>
              <a:t>Stakeholders</a:t>
            </a:r>
            <a:endParaRPr lang="en-IN" sz="1200" b="1" spc="-60" dirty="0">
              <a:solidFill>
                <a:srgbClr val="133768"/>
              </a:solidFill>
              <a:latin typeface="Tahoma"/>
              <a:cs typeface="Tahoma"/>
            </a:endParaRPr>
          </a:p>
          <a:p>
            <a:pPr marL="209550" indent="-171450" algn="l">
              <a:lnSpc>
                <a:spcPct val="100000"/>
              </a:lnSpc>
              <a:spcBef>
                <a:spcPts val="434"/>
              </a:spcBef>
              <a:buFont typeface="Arial" panose="020B0604020202020204" pitchFamily="34" charset="0"/>
              <a:buChar char="•"/>
            </a:pPr>
            <a:r>
              <a:rPr lang="en-IN" sz="1050" b="1" spc="-60" dirty="0">
                <a:solidFill>
                  <a:srgbClr val="133768"/>
                </a:solidFill>
                <a:latin typeface="Tahoma"/>
                <a:cs typeface="Tahoma"/>
              </a:rPr>
              <a:t>Primary: </a:t>
            </a:r>
            <a:r>
              <a:rPr lang="en-IN" sz="1050" spc="-60" dirty="0">
                <a:solidFill>
                  <a:srgbClr val="133768"/>
                </a:solidFill>
                <a:latin typeface="Tahoma"/>
                <a:cs typeface="Tahoma"/>
              </a:rPr>
              <a:t>Emergency operators and Dispatchers.</a:t>
            </a:r>
          </a:p>
          <a:p>
            <a:pPr marL="209550" indent="-171450" algn="l">
              <a:lnSpc>
                <a:spcPct val="100000"/>
              </a:lnSpc>
              <a:spcBef>
                <a:spcPts val="434"/>
              </a:spcBef>
              <a:buFont typeface="Arial" panose="020B0604020202020204" pitchFamily="34" charset="0"/>
              <a:buChar char="•"/>
            </a:pPr>
            <a:r>
              <a:rPr lang="en-IN" sz="1050" b="1" spc="-60" dirty="0">
                <a:solidFill>
                  <a:srgbClr val="133768"/>
                </a:solidFill>
                <a:latin typeface="Tahoma"/>
                <a:cs typeface="Tahoma"/>
              </a:rPr>
              <a:t>Secondary: </a:t>
            </a:r>
            <a:r>
              <a:rPr lang="en-IN" sz="1050" spc="-60" dirty="0">
                <a:solidFill>
                  <a:srgbClr val="133768"/>
                </a:solidFill>
                <a:latin typeface="Tahoma"/>
                <a:cs typeface="Tahoma"/>
              </a:rPr>
              <a:t>Police, Fire, Medical Rescue Team.</a:t>
            </a:r>
          </a:p>
          <a:p>
            <a:pPr marL="209550" indent="-171450" algn="l">
              <a:lnSpc>
                <a:spcPct val="100000"/>
              </a:lnSpc>
              <a:spcBef>
                <a:spcPts val="434"/>
              </a:spcBef>
              <a:buFont typeface="Arial" panose="020B0604020202020204" pitchFamily="34" charset="0"/>
              <a:buChar char="•"/>
            </a:pPr>
            <a:r>
              <a:rPr lang="en-IN" sz="1050" b="1" spc="-60" dirty="0">
                <a:solidFill>
                  <a:srgbClr val="133768"/>
                </a:solidFill>
                <a:latin typeface="Tahoma"/>
                <a:cs typeface="Tahoma"/>
              </a:rPr>
              <a:t>Benefit: </a:t>
            </a:r>
            <a:r>
              <a:rPr lang="en-IN" sz="1050" spc="-60" dirty="0">
                <a:solidFill>
                  <a:srgbClr val="133768"/>
                </a:solidFill>
                <a:latin typeface="Tahoma"/>
                <a:cs typeface="Tahoma"/>
              </a:rPr>
              <a:t>Faster Incident Identification, Better Prioritization, Better response team dispatch</a:t>
            </a:r>
            <a:endParaRPr lang="en-IN" sz="1050" b="1" spc="-60" dirty="0">
              <a:solidFill>
                <a:srgbClr val="133768"/>
              </a:solidFill>
              <a:latin typeface="Tahoma"/>
              <a:cs typeface="Tahom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B270CA3-87A9-8FBF-A2A2-2C1357B7C8C5}"/>
                  </a:ext>
                </a:extLst>
              </p14:cNvPr>
              <p14:cNvContentPartPr/>
              <p14:nvPr/>
            </p14:nvContentPartPr>
            <p14:xfrm>
              <a:off x="3001980" y="-838320"/>
              <a:ext cx="3240" cy="64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B270CA3-87A9-8FBF-A2A2-2C1357B7C8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95860" y="-844440"/>
                <a:ext cx="15480" cy="1872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4BB1C6A-30AA-B0C3-AEF3-2DEDEC5E8882}"/>
              </a:ext>
            </a:extLst>
          </p:cNvPr>
          <p:cNvSpPr/>
          <p:nvPr/>
        </p:nvSpPr>
        <p:spPr>
          <a:xfrm>
            <a:off x="140335" y="1486572"/>
            <a:ext cx="2732687" cy="1551567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lang="en-US" sz="1200" b="1" spc="-10" dirty="0">
                <a:solidFill>
                  <a:srgbClr val="133768"/>
                </a:solidFill>
                <a:latin typeface="Tahoma"/>
                <a:cs typeface="Tahoma"/>
              </a:rPr>
              <a:t>Motivation</a:t>
            </a:r>
          </a:p>
          <a:p>
            <a:pPr marL="209550" indent="-171450">
              <a:lnSpc>
                <a:spcPct val="100000"/>
              </a:lnSpc>
              <a:spcBef>
                <a:spcPts val="434"/>
              </a:spcBef>
              <a:buFont typeface="Arial" panose="020B0604020202020204" pitchFamily="34" charset="0"/>
              <a:buChar char="•"/>
            </a:pPr>
            <a:r>
              <a:rPr lang="en-US" sz="1050" spc="-10" dirty="0">
                <a:solidFill>
                  <a:srgbClr val="133768"/>
                </a:solidFill>
                <a:latin typeface="Tahoma"/>
                <a:cs typeface="Tahoma"/>
              </a:rPr>
              <a:t>Duplicate Reports can overload emergency operators</a:t>
            </a:r>
          </a:p>
          <a:p>
            <a:pPr marL="209550" indent="-171450">
              <a:lnSpc>
                <a:spcPct val="100000"/>
              </a:lnSpc>
              <a:spcBef>
                <a:spcPts val="434"/>
              </a:spcBef>
              <a:buFont typeface="Arial" panose="020B0604020202020204" pitchFamily="34" charset="0"/>
              <a:buChar char="•"/>
            </a:pPr>
            <a:r>
              <a:rPr lang="en-US" sz="1050" spc="-10" dirty="0">
                <a:solidFill>
                  <a:srgbClr val="133768"/>
                </a:solidFill>
                <a:latin typeface="Tahoma"/>
                <a:cs typeface="Tahoma"/>
              </a:rPr>
              <a:t>Critical Incidents needs to identified quickly</a:t>
            </a:r>
          </a:p>
          <a:p>
            <a:pPr marL="209550" indent="-171450">
              <a:lnSpc>
                <a:spcPct val="100000"/>
              </a:lnSpc>
              <a:spcBef>
                <a:spcPts val="434"/>
              </a:spcBef>
              <a:buFont typeface="Arial" panose="020B0604020202020204" pitchFamily="34" charset="0"/>
              <a:buChar char="•"/>
            </a:pPr>
            <a:r>
              <a:rPr lang="en-US" sz="1050" spc="-10" dirty="0">
                <a:solidFill>
                  <a:srgbClr val="133768"/>
                </a:solidFill>
                <a:latin typeface="Tahoma"/>
                <a:cs typeface="Tahoma"/>
              </a:rPr>
              <a:t>Pranks call should be identified.</a:t>
            </a:r>
          </a:p>
          <a:p>
            <a:pPr marL="209550" indent="-171450">
              <a:lnSpc>
                <a:spcPct val="100000"/>
              </a:lnSpc>
              <a:spcBef>
                <a:spcPts val="434"/>
              </a:spcBef>
              <a:buFont typeface="Arial" panose="020B0604020202020204" pitchFamily="34" charset="0"/>
              <a:buChar char="•"/>
            </a:pPr>
            <a:r>
              <a:rPr lang="en-US" sz="1050" spc="-10" dirty="0">
                <a:solidFill>
                  <a:srgbClr val="133768"/>
                </a:solidFill>
                <a:latin typeface="Tahoma"/>
                <a:cs typeface="Tahoma"/>
              </a:rPr>
              <a:t>Existing focus on </a:t>
            </a:r>
            <a:r>
              <a:rPr lang="en-US" sz="1050" spc="-10" dirty="0" err="1">
                <a:solidFill>
                  <a:srgbClr val="133768"/>
                </a:solidFill>
                <a:latin typeface="Tahoma"/>
                <a:cs typeface="Tahoma"/>
              </a:rPr>
              <a:t>receving</a:t>
            </a:r>
            <a:r>
              <a:rPr lang="en-US" sz="1050" spc="-10" dirty="0">
                <a:solidFill>
                  <a:srgbClr val="133768"/>
                </a:solidFill>
                <a:latin typeface="Tahoma"/>
                <a:cs typeface="Tahoma"/>
              </a:rPr>
              <a:t> and dispatching the call not prioritize it.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FC299C8-2086-AABA-7A51-1D29CB5AEF00}"/>
              </a:ext>
            </a:extLst>
          </p:cNvPr>
          <p:cNvSpPr/>
          <p:nvPr/>
        </p:nvSpPr>
        <p:spPr>
          <a:xfrm>
            <a:off x="2958490" y="1419049"/>
            <a:ext cx="2732687" cy="1587568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endParaRPr lang="en-US" sz="1200" b="1" spc="-10" dirty="0">
              <a:solidFill>
                <a:srgbClr val="133768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140953"/>
            <a:ext cx="3785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362902" y="444018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2389" y="552181"/>
            <a:ext cx="5090508" cy="171713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40" dirty="0">
                <a:solidFill>
                  <a:srgbClr val="133768"/>
                </a:solidFill>
                <a:latin typeface="Tahoma"/>
                <a:cs typeface="Tahoma"/>
              </a:rPr>
              <a:t>Project</a:t>
            </a:r>
            <a:r>
              <a:rPr sz="1100" b="1" spc="-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Tahoma"/>
                <a:cs typeface="Tahoma"/>
              </a:rPr>
              <a:t>Objectives</a:t>
            </a:r>
            <a:endParaRPr lang="en-IN" sz="1100" b="1" spc="-10" dirty="0">
              <a:solidFill>
                <a:srgbClr val="133768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lang="en-IN" sz="1100" b="1" spc="-10" dirty="0">
              <a:solidFill>
                <a:srgbClr val="133768"/>
              </a:solidFill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90"/>
              </a:spcBef>
              <a:buAutoNum type="arabicPeriod"/>
            </a:pPr>
            <a:r>
              <a:rPr lang="en-IN" sz="1200" dirty="0"/>
              <a:t>Implement an incoming report ingestion system using FIFO Queues. </a:t>
            </a:r>
          </a:p>
          <a:p>
            <a:pPr marL="241300" indent="-228600">
              <a:lnSpc>
                <a:spcPct val="100000"/>
              </a:lnSpc>
              <a:spcBef>
                <a:spcPts val="90"/>
              </a:spcBef>
              <a:buAutoNum type="arabicPeriod"/>
            </a:pPr>
            <a:r>
              <a:rPr lang="en-IN" sz="1200" dirty="0"/>
              <a:t>Build a Call Analyser to detect low-information or fake calls. </a:t>
            </a:r>
          </a:p>
          <a:p>
            <a:pPr marL="241300" indent="-228600">
              <a:lnSpc>
                <a:spcPct val="100000"/>
              </a:lnSpc>
              <a:spcBef>
                <a:spcPts val="90"/>
              </a:spcBef>
              <a:buAutoNum type="arabicPeriod"/>
            </a:pPr>
            <a:r>
              <a:rPr lang="en-IN" sz="1200" dirty="0"/>
              <a:t>Construct report graphs and group related reports via Disjoint Set Union (DSU). </a:t>
            </a:r>
          </a:p>
          <a:p>
            <a:pPr marL="241300" indent="-228600">
              <a:lnSpc>
                <a:spcPct val="100000"/>
              </a:lnSpc>
              <a:spcBef>
                <a:spcPts val="90"/>
              </a:spcBef>
              <a:buAutoNum type="arabicPeriod"/>
            </a:pPr>
            <a:r>
              <a:rPr lang="en-US" sz="1200" dirty="0" err="1"/>
              <a:t>Prioritise</a:t>
            </a:r>
            <a:r>
              <a:rPr lang="en-US" sz="1200" dirty="0"/>
              <a:t> incidents dynamically using Priority Queues for fast dispatch</a:t>
            </a:r>
          </a:p>
          <a:p>
            <a:pPr marL="241300" indent="-228600">
              <a:lnSpc>
                <a:spcPct val="100000"/>
              </a:lnSpc>
              <a:spcBef>
                <a:spcPts val="90"/>
              </a:spcBef>
              <a:buAutoNum type="arabicPeriod"/>
            </a:pPr>
            <a:r>
              <a:rPr lang="en-IN" sz="1200" dirty="0"/>
              <a:t>Integrate advanced Data Structures with Object-Oriented Design. </a:t>
            </a:r>
            <a:endParaRPr lang="en-IN" sz="1200" b="1" spc="-10" dirty="0">
              <a:solidFill>
                <a:srgbClr val="133768"/>
              </a:solidFill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90"/>
              </a:spcBef>
              <a:buFont typeface="+mj-lt"/>
              <a:buAutoNum type="arabicPeriod"/>
            </a:pP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4</a:t>
            </a:fld>
            <a:r>
              <a:rPr spc="-10" dirty="0"/>
              <a:t>/10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7800" y="2322059"/>
            <a:ext cx="5410199" cy="333425"/>
          </a:xfrm>
          <a:prstGeom prst="rect">
            <a:avLst/>
          </a:prstGeom>
          <a:solidFill>
            <a:srgbClr val="EDF3FA"/>
          </a:solidFill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275"/>
              </a:lnSpc>
            </a:pPr>
            <a:r>
              <a:rPr sz="1200" b="1" dirty="0">
                <a:latin typeface="Tahoma"/>
                <a:cs typeface="Tahoma"/>
              </a:rPr>
              <a:t>Key</a:t>
            </a:r>
            <a:r>
              <a:rPr sz="1200" b="1" spc="-25" dirty="0">
                <a:latin typeface="Tahoma"/>
                <a:cs typeface="Tahoma"/>
              </a:rPr>
              <a:t> </a:t>
            </a:r>
            <a:r>
              <a:rPr sz="1200" b="1" spc="-60" dirty="0">
                <a:latin typeface="Tahoma"/>
                <a:cs typeface="Tahoma"/>
              </a:rPr>
              <a:t>Objective</a:t>
            </a:r>
            <a:r>
              <a:rPr sz="1200" b="1" spc="-60" dirty="0">
                <a:solidFill>
                  <a:schemeClr val="tx1"/>
                </a:solidFill>
                <a:latin typeface="Tahoma"/>
                <a:cs typeface="Tahoma"/>
              </a:rPr>
              <a:t>:</a:t>
            </a:r>
            <a:r>
              <a:rPr sz="1200" b="1" spc="65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IN" sz="1200" b="1" i="1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IN" sz="1100" b="1" spc="-20" dirty="0">
                <a:solidFill>
                  <a:schemeClr val="tx1"/>
                </a:solidFill>
                <a:latin typeface="Arial"/>
                <a:cs typeface="Arial"/>
              </a:rPr>
              <a:t>To group related emergency reports </a:t>
            </a:r>
            <a:r>
              <a:rPr lang="en-IN" sz="1100" b="1" spc="-20" dirty="0" err="1">
                <a:solidFill>
                  <a:schemeClr val="tx1"/>
                </a:solidFill>
                <a:latin typeface="Arial"/>
                <a:cs typeface="Arial"/>
              </a:rPr>
              <a:t>iinto</a:t>
            </a:r>
            <a:r>
              <a:rPr lang="en-IN" sz="1100" b="1" spc="-20" dirty="0">
                <a:solidFill>
                  <a:schemeClr val="tx1"/>
                </a:solidFill>
                <a:latin typeface="Arial"/>
                <a:cs typeface="Arial"/>
              </a:rPr>
              <a:t> one incident and give priority to important incidents for faster response</a:t>
            </a:r>
            <a:endParaRPr sz="1100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318AD82-452E-540B-7FCB-C48C7D572A3D}"/>
                  </a:ext>
                </a:extLst>
              </p14:cNvPr>
              <p14:cNvContentPartPr/>
              <p14:nvPr/>
            </p14:nvContentPartPr>
            <p14:xfrm>
              <a:off x="2049780" y="1627320"/>
              <a:ext cx="6480" cy="3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318AD82-452E-540B-7FCB-C48C7D572A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43300" y="1621200"/>
                <a:ext cx="18720" cy="15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168868"/>
            <a:ext cx="3785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Proposed</a:t>
            </a:r>
            <a:r>
              <a:rPr spc="-5" dirty="0"/>
              <a:t> </a:t>
            </a:r>
            <a:r>
              <a:rPr spc="-55" dirty="0"/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347294" y="479425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3400" y="685470"/>
            <a:ext cx="2667000" cy="1666481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IN" sz="1100" b="1" spc="-55" dirty="0">
                <a:solidFill>
                  <a:srgbClr val="133768"/>
                </a:solidFill>
                <a:latin typeface="Tahoma"/>
                <a:cs typeface="Tahoma"/>
              </a:rPr>
              <a:t>      </a:t>
            </a:r>
            <a:r>
              <a:rPr sz="1100" b="1" spc="-55" dirty="0">
                <a:solidFill>
                  <a:srgbClr val="133768"/>
                </a:solidFill>
                <a:latin typeface="Tahoma"/>
                <a:cs typeface="Tahoma"/>
              </a:rPr>
              <a:t>Proposed</a:t>
            </a:r>
            <a:r>
              <a:rPr sz="1100" b="1" spc="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Tahoma"/>
                <a:cs typeface="Tahoma"/>
              </a:rPr>
              <a:t>Approach</a:t>
            </a:r>
            <a:endParaRPr lang="en-IN" sz="1100" b="1" spc="-10" dirty="0">
              <a:solidFill>
                <a:srgbClr val="133768"/>
              </a:solidFill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AutoNum type="arabicPeriod"/>
            </a:pPr>
            <a:r>
              <a:rPr lang="en-IN" sz="1100" b="1" dirty="0"/>
              <a:t>Queue Manager: </a:t>
            </a:r>
            <a:r>
              <a:rPr lang="en-IN" sz="1100" dirty="0"/>
              <a:t>FIFO order storage. </a:t>
            </a: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AutoNum type="arabicPeriod"/>
            </a:pPr>
            <a:r>
              <a:rPr lang="en-IN" sz="1100" b="1" dirty="0"/>
              <a:t>Call Analyzer: </a:t>
            </a:r>
            <a:r>
              <a:rPr lang="en-IN" sz="1100" dirty="0"/>
              <a:t>Computes similarity /quality. </a:t>
            </a: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AutoNum type="arabicPeriod"/>
            </a:pPr>
            <a:r>
              <a:rPr lang="en-IN" sz="1100" b="1" dirty="0"/>
              <a:t>Relationship Builder: </a:t>
            </a:r>
            <a:r>
              <a:rPr lang="en-IN" sz="1100" dirty="0"/>
              <a:t>Hash Maps and   Graphs. </a:t>
            </a: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AutoNum type="arabicPeriod"/>
            </a:pPr>
            <a:r>
              <a:rPr lang="en-IN" sz="1100" b="1" dirty="0"/>
              <a:t>Incident Manager: </a:t>
            </a:r>
            <a:r>
              <a:rPr lang="en-IN" sz="1100" dirty="0"/>
              <a:t>DSU clustering.</a:t>
            </a: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AutoNum type="arabicPeriod"/>
            </a:pPr>
            <a:r>
              <a:rPr lang="en-IN" sz="1100" b="1" dirty="0"/>
              <a:t>Dispatcher: </a:t>
            </a:r>
            <a:r>
              <a:rPr lang="en-IN" sz="1100" dirty="0"/>
              <a:t>High-priority routing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5</a:t>
            </a:fld>
            <a:r>
              <a:rPr spc="-10" dirty="0"/>
              <a:t>/10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28264" y="708025"/>
            <a:ext cx="2680338" cy="1327927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solidFill>
                  <a:srgbClr val="133768"/>
                </a:solidFill>
                <a:latin typeface="Tahoma"/>
                <a:cs typeface="Tahoma"/>
              </a:rPr>
              <a:t>Key</a:t>
            </a:r>
            <a:r>
              <a:rPr sz="1100" b="1" spc="-50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spc="-45" dirty="0">
                <a:solidFill>
                  <a:srgbClr val="133768"/>
                </a:solidFill>
                <a:latin typeface="Tahoma"/>
                <a:cs typeface="Tahoma"/>
              </a:rPr>
              <a:t>Features</a:t>
            </a:r>
            <a:endParaRPr lang="en-IN" sz="1100" b="1" spc="-45" dirty="0">
              <a:solidFill>
                <a:srgbClr val="133768"/>
              </a:solidFill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lang="en-IN" sz="1100" dirty="0"/>
              <a:t>▶ Automated Fake Call Detection.</a:t>
            </a:r>
          </a:p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lang="en-IN" sz="1100" dirty="0"/>
              <a:t>▶ Fast O(1) Hash Map Lookups.</a:t>
            </a:r>
          </a:p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lang="en-IN" sz="1100" dirty="0"/>
              <a:t>▶ Dynamic DSU Incident Grouping. </a:t>
            </a:r>
          </a:p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lang="en-IN" sz="1100" dirty="0"/>
              <a:t>▶ Priority-based Dispatching.</a:t>
            </a:r>
          </a:p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lang="en-IN" sz="1100" dirty="0"/>
              <a:t>▶ Feedback Learning Loop.</a:t>
            </a:r>
            <a:endParaRPr sz="1100" b="1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3648" y="2557995"/>
            <a:ext cx="513415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1000" b="1" dirty="0">
                <a:latin typeface="Arial MT"/>
                <a:cs typeface="Arial MT"/>
              </a:rPr>
              <a:t>The System will group related emergency reports, identify important incidents, prank call and prioritise then for faster team allocation at right place </a:t>
            </a:r>
            <a:endParaRPr sz="1000" b="1" dirty="0">
              <a:latin typeface="Arial MT"/>
              <a:cs typeface="Arial MT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9D33B37-D899-CE4D-8BB1-67FCC1FD6F61}"/>
              </a:ext>
            </a:extLst>
          </p:cNvPr>
          <p:cNvSpPr/>
          <p:nvPr/>
        </p:nvSpPr>
        <p:spPr>
          <a:xfrm>
            <a:off x="95300" y="708025"/>
            <a:ext cx="2743200" cy="1722443"/>
          </a:xfrm>
          <a:prstGeom prst="roundRect">
            <a:avLst/>
          </a:prstGeom>
          <a:noFill/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783CED1-9E3F-93DD-8DFA-A24059FB4929}"/>
              </a:ext>
            </a:extLst>
          </p:cNvPr>
          <p:cNvSpPr/>
          <p:nvPr/>
        </p:nvSpPr>
        <p:spPr>
          <a:xfrm>
            <a:off x="2965402" y="682635"/>
            <a:ext cx="2743200" cy="1722443"/>
          </a:xfrm>
          <a:prstGeom prst="roundRect">
            <a:avLst/>
          </a:prstGeom>
          <a:noFill/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9994" y="204913"/>
            <a:ext cx="30714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80" dirty="0"/>
              <a:t>Integration</a:t>
            </a:r>
            <a:r>
              <a:rPr spc="2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60" dirty="0"/>
              <a:t>PBL</a:t>
            </a:r>
            <a:r>
              <a:rPr spc="25" dirty="0"/>
              <a:t> </a:t>
            </a:r>
            <a:r>
              <a:rPr spc="-50" dirty="0"/>
              <a:t>Course</a:t>
            </a:r>
            <a:r>
              <a:rPr spc="25" dirty="0"/>
              <a:t> </a:t>
            </a:r>
            <a:r>
              <a:rPr spc="-35" dirty="0"/>
              <a:t>Concepts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555625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240773"/>
              </p:ext>
            </p:extLst>
          </p:nvPr>
        </p:nvGraphicFramePr>
        <p:xfrm>
          <a:off x="194243" y="953312"/>
          <a:ext cx="5371496" cy="16310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5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6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4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Course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88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spc="-20" dirty="0">
                          <a:latin typeface="Arial MT"/>
                          <a:cs typeface="Arial MT"/>
                        </a:rPr>
                        <a:t>Concepts</a:t>
                      </a:r>
                      <a:r>
                        <a:rPr sz="8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Applied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800" spc="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Module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80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IN" sz="800" b="1" spc="-10" dirty="0">
                          <a:latin typeface="Tahoma"/>
                          <a:cs typeface="Tahoma"/>
                        </a:rPr>
                        <a:t>  </a:t>
                      </a:r>
                      <a:r>
                        <a:rPr sz="900" b="1" spc="-10" dirty="0">
                          <a:latin typeface="Tahoma"/>
                          <a:cs typeface="Tahoma"/>
                        </a:rPr>
                        <a:t>Data</a:t>
                      </a:r>
                      <a:r>
                        <a:rPr sz="9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b="1" spc="-50" dirty="0">
                          <a:latin typeface="Tahoma"/>
                          <a:cs typeface="Tahoma"/>
                        </a:rPr>
                        <a:t>Structures</a:t>
                      </a:r>
                      <a:r>
                        <a:rPr sz="9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b="1" spc="-1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9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b="1" spc="-50" dirty="0">
                          <a:latin typeface="Tahoma"/>
                          <a:cs typeface="Tahoma"/>
                        </a:rPr>
                        <a:t>C</a:t>
                      </a:r>
                      <a:endParaRPr sz="900" dirty="0">
                        <a:latin typeface="Tahoma"/>
                        <a:cs typeface="Tahoma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IN" sz="900" i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lang="en-IN" sz="1000" b="1" i="0" dirty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Queue,Hashing,Graph,DSU,Priority</a:t>
                      </a:r>
                      <a:r>
                        <a:rPr lang="en-IN" sz="1000" b="1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Queue</a:t>
                      </a:r>
                      <a:endParaRPr sz="900" b="1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lang="en-IN" sz="1000" b="0" i="0" spc="-5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Report processing ,</a:t>
                      </a:r>
                      <a:r>
                        <a:rPr lang="en-IN" sz="1100" b="0" i="0" spc="-5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grouping , and Prioritisation</a:t>
                      </a:r>
                      <a:endParaRPr lang="en-IN" sz="1000" b="0" i="0" spc="-5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4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800" b="1" dirty="0">
                          <a:latin typeface="Tahoma"/>
                          <a:cs typeface="Tahoma"/>
                        </a:rPr>
                        <a:t> 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800" b="1" dirty="0">
                          <a:latin typeface="Tahoma"/>
                          <a:cs typeface="Tahoma"/>
                        </a:rPr>
                        <a:t>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800" b="1" dirty="0">
                          <a:latin typeface="Tahoma"/>
                          <a:cs typeface="Tahoma"/>
                        </a:rPr>
                        <a:t>    </a:t>
                      </a:r>
                      <a:r>
                        <a:rPr lang="en-IN" sz="900" b="1" dirty="0">
                          <a:latin typeface="Tahoma"/>
                          <a:cs typeface="Tahoma"/>
                        </a:rPr>
                        <a:t>OOPs</a:t>
                      </a:r>
                      <a:r>
                        <a:rPr lang="en-IN" sz="900" b="1" spc="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lang="en-IN" sz="900" b="1" spc="-55" dirty="0">
                          <a:latin typeface="Tahoma"/>
                          <a:cs typeface="Tahoma"/>
                        </a:rPr>
                        <a:t>with</a:t>
                      </a:r>
                      <a:r>
                        <a:rPr lang="en-IN" sz="900" b="1" spc="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lang="en-IN" sz="900" b="1" spc="-25" dirty="0">
                          <a:latin typeface="Tahoma"/>
                          <a:cs typeface="Tahoma"/>
                        </a:rPr>
                        <a:t>C++</a:t>
                      </a:r>
                      <a:endParaRPr lang="en-IN" sz="900" dirty="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</a:pPr>
                      <a:r>
                        <a:rPr lang="en-IN" sz="800" i="1" spc="-4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  </a:t>
                      </a:r>
                    </a:p>
                    <a:p>
                      <a:pPr marL="130810">
                        <a:lnSpc>
                          <a:spcPct val="100000"/>
                        </a:lnSpc>
                      </a:pPr>
                      <a:endParaRPr lang="en-IN" sz="900" i="1" spc="-40" dirty="0">
                        <a:solidFill>
                          <a:srgbClr val="595959"/>
                        </a:solidFill>
                        <a:latin typeface="Arial"/>
                        <a:cs typeface="Arial"/>
                      </a:endParaRPr>
                    </a:p>
                    <a:p>
                      <a:pPr marL="130810">
                        <a:lnSpc>
                          <a:spcPct val="100000"/>
                        </a:lnSpc>
                      </a:pPr>
                      <a:r>
                        <a:rPr lang="fr-FR" sz="1000" b="1" i="0" spc="-4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Classes,</a:t>
                      </a:r>
                      <a:r>
                        <a:rPr lang="fr-FR" sz="1000" b="1" i="0" spc="5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fr-FR" sz="1000" b="1" i="0" spc="-10" dirty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Inheritance</a:t>
                      </a:r>
                      <a:r>
                        <a:rPr lang="fr-FR" sz="1000" b="1" i="0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lang="fr-FR" sz="1000" b="1" i="0" spc="5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fr-FR" sz="1000" b="1" i="0" spc="-10" dirty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Polymorphism</a:t>
                      </a:r>
                      <a:r>
                        <a:rPr lang="fr-FR" sz="1000" b="1" i="0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,</a:t>
                      </a:r>
                      <a:r>
                        <a:rPr lang="fr-FR" sz="1000" b="1" i="0" spc="5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fr-FR" sz="1000" b="1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STL</a:t>
                      </a:r>
                      <a:r>
                        <a:rPr lang="fr-FR" sz="1000" b="1" i="0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lang="fr-FR" sz="1000" b="1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</a:pPr>
                      <a:endParaRPr lang="en-IN" sz="800" b="0" i="1" dirty="0">
                        <a:solidFill>
                          <a:srgbClr val="595959"/>
                        </a:solidFill>
                        <a:latin typeface="Arial"/>
                        <a:cs typeface="Arial"/>
                      </a:endParaRPr>
                    </a:p>
                    <a:p>
                      <a:pPr marL="150495">
                        <a:lnSpc>
                          <a:spcPct val="100000"/>
                        </a:lnSpc>
                      </a:pPr>
                      <a:r>
                        <a:rPr lang="en-IN" sz="105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Call, Incident,  </a:t>
                      </a:r>
                      <a:r>
                        <a:rPr lang="en-IN" sz="1050" b="0" i="0" dirty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Disatcher</a:t>
                      </a:r>
                      <a:r>
                        <a:rPr lang="en-IN" sz="1050" b="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 and Response Team Module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5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</a:pP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</a:pP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194243" y="3145989"/>
            <a:ext cx="4254356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700" dirty="0"/>
              <a:t>Department</a:t>
            </a:r>
            <a:r>
              <a:rPr sz="700" spc="25" dirty="0"/>
              <a:t> </a:t>
            </a:r>
            <a:r>
              <a:rPr sz="700" dirty="0"/>
              <a:t>of</a:t>
            </a:r>
            <a:r>
              <a:rPr sz="700" spc="25" dirty="0"/>
              <a:t> </a:t>
            </a:r>
            <a:r>
              <a:rPr sz="700" dirty="0"/>
              <a:t>Computer</a:t>
            </a:r>
            <a:r>
              <a:rPr sz="700" spc="25" dirty="0"/>
              <a:t> </a:t>
            </a:r>
            <a:r>
              <a:rPr sz="700" spc="-25" dirty="0"/>
              <a:t>Science</a:t>
            </a:r>
            <a:r>
              <a:rPr sz="700" spc="25" dirty="0"/>
              <a:t> </a:t>
            </a:r>
            <a:r>
              <a:rPr sz="700" spc="80" dirty="0"/>
              <a:t>&amp;</a:t>
            </a:r>
            <a:r>
              <a:rPr sz="700" spc="25" dirty="0"/>
              <a:t> </a:t>
            </a:r>
            <a:r>
              <a:rPr sz="700" spc="-10" dirty="0"/>
              <a:t>Engineering</a:t>
            </a:r>
            <a:r>
              <a:rPr sz="700" spc="25" dirty="0"/>
              <a:t> </a:t>
            </a:r>
            <a:r>
              <a:rPr sz="700" dirty="0"/>
              <a:t>—</a:t>
            </a:r>
            <a:r>
              <a:rPr sz="700" spc="25" dirty="0"/>
              <a:t> </a:t>
            </a:r>
            <a:r>
              <a:rPr sz="700" spc="-10" dirty="0"/>
              <a:t>Graphic</a:t>
            </a:r>
            <a:r>
              <a:rPr sz="700" spc="25" dirty="0"/>
              <a:t> </a:t>
            </a:r>
            <a:r>
              <a:rPr sz="700" dirty="0"/>
              <a:t>Era</a:t>
            </a:r>
            <a:r>
              <a:rPr sz="700" spc="30" dirty="0"/>
              <a:t> </a:t>
            </a:r>
            <a:r>
              <a:rPr sz="700" spc="-10" dirty="0"/>
              <a:t>(Deemed</a:t>
            </a:r>
            <a:r>
              <a:rPr sz="700" spc="25" dirty="0"/>
              <a:t> </a:t>
            </a:r>
            <a:r>
              <a:rPr sz="700" dirty="0"/>
              <a:t>to</a:t>
            </a:r>
            <a:r>
              <a:rPr sz="700" spc="25" dirty="0"/>
              <a:t> </a:t>
            </a:r>
            <a:r>
              <a:rPr sz="700" dirty="0"/>
              <a:t>be</a:t>
            </a:r>
            <a:r>
              <a:rPr sz="700" spc="25" dirty="0"/>
              <a:t> </a:t>
            </a:r>
            <a:r>
              <a:rPr sz="700" spc="-10" dirty="0"/>
              <a:t>University)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6</a:t>
            </a:fld>
            <a:r>
              <a:rPr spc="-10" dirty="0"/>
              <a:t>/10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9994" y="126289"/>
            <a:ext cx="3785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System</a:t>
            </a:r>
            <a:r>
              <a:rPr spc="25" dirty="0"/>
              <a:t> </a:t>
            </a:r>
            <a:r>
              <a:rPr spc="-50" dirty="0"/>
              <a:t>Architecture</a:t>
            </a:r>
            <a:r>
              <a:rPr spc="30" dirty="0"/>
              <a:t> </a:t>
            </a:r>
            <a:r>
              <a:rPr dirty="0"/>
              <a:t>/</a:t>
            </a:r>
            <a:r>
              <a:rPr spc="30" dirty="0"/>
              <a:t> </a:t>
            </a:r>
            <a:r>
              <a:rPr spc="-70" dirty="0"/>
              <a:t>Workflow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421605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87177" y="1662893"/>
            <a:ext cx="2290780" cy="8226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40" dirty="0">
                <a:solidFill>
                  <a:srgbClr val="133768"/>
                </a:solidFill>
                <a:latin typeface="Tahoma"/>
                <a:cs typeface="Tahoma"/>
              </a:rPr>
              <a:t>Major</a:t>
            </a:r>
            <a:r>
              <a:rPr sz="1100" b="1" spc="-2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Tahoma"/>
                <a:cs typeface="Tahoma"/>
              </a:rPr>
              <a:t>Components</a:t>
            </a:r>
            <a:endParaRPr sz="1100" dirty="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IN" sz="1100" dirty="0">
                <a:solidFill>
                  <a:schemeClr val="tx1"/>
                </a:solidFill>
                <a:latin typeface="Arial"/>
                <a:cs typeface="Arial"/>
              </a:rPr>
              <a:t>Emergency Call Management</a:t>
            </a:r>
            <a:endParaRPr sz="11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IN" sz="1100" spc="-45" dirty="0">
                <a:solidFill>
                  <a:schemeClr val="tx1"/>
                </a:solidFill>
                <a:latin typeface="Arial"/>
                <a:cs typeface="Arial"/>
              </a:rPr>
              <a:t>Call Analysis &amp; Incident Grouping</a:t>
            </a:r>
            <a:endParaRPr sz="11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IN" sz="1100" spc="-45" dirty="0">
                <a:solidFill>
                  <a:schemeClr val="tx1"/>
                </a:solidFill>
                <a:latin typeface="Arial"/>
                <a:cs typeface="Arial"/>
              </a:rPr>
              <a:t>Priority &amp; Response Managing</a:t>
            </a:r>
            <a:endParaRPr sz="11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xfrm>
            <a:off x="95300" y="3133522"/>
            <a:ext cx="439325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700" dirty="0"/>
              <a:t>Department</a:t>
            </a:r>
            <a:r>
              <a:rPr sz="700" spc="25" dirty="0"/>
              <a:t> </a:t>
            </a:r>
            <a:r>
              <a:rPr sz="700" dirty="0"/>
              <a:t>of</a:t>
            </a:r>
            <a:r>
              <a:rPr sz="700" spc="25" dirty="0"/>
              <a:t> </a:t>
            </a:r>
            <a:r>
              <a:rPr sz="700" dirty="0"/>
              <a:t>Computer</a:t>
            </a:r>
            <a:r>
              <a:rPr sz="700" spc="25" dirty="0"/>
              <a:t> </a:t>
            </a:r>
            <a:r>
              <a:rPr sz="700" spc="-25" dirty="0"/>
              <a:t>Science</a:t>
            </a:r>
            <a:r>
              <a:rPr sz="700" spc="25" dirty="0"/>
              <a:t> </a:t>
            </a:r>
            <a:r>
              <a:rPr sz="700" spc="80" dirty="0"/>
              <a:t>&amp;</a:t>
            </a:r>
            <a:r>
              <a:rPr sz="700" spc="25" dirty="0"/>
              <a:t> </a:t>
            </a:r>
            <a:r>
              <a:rPr sz="700" spc="-10" dirty="0"/>
              <a:t>Engineering</a:t>
            </a:r>
            <a:r>
              <a:rPr sz="700" spc="25" dirty="0"/>
              <a:t> </a:t>
            </a:r>
            <a:r>
              <a:rPr sz="700" dirty="0"/>
              <a:t>—</a:t>
            </a:r>
            <a:r>
              <a:rPr sz="700" spc="25" dirty="0"/>
              <a:t> </a:t>
            </a:r>
            <a:r>
              <a:rPr sz="700" spc="-10" dirty="0"/>
              <a:t>Graphic</a:t>
            </a:r>
            <a:r>
              <a:rPr sz="700" spc="25" dirty="0"/>
              <a:t> </a:t>
            </a:r>
            <a:r>
              <a:rPr sz="700" dirty="0"/>
              <a:t>Era</a:t>
            </a:r>
            <a:r>
              <a:rPr sz="700" spc="30" dirty="0"/>
              <a:t> </a:t>
            </a:r>
            <a:r>
              <a:rPr sz="700" spc="-10" dirty="0"/>
              <a:t>(Deemed</a:t>
            </a:r>
            <a:r>
              <a:rPr sz="700" spc="25" dirty="0"/>
              <a:t> </a:t>
            </a:r>
            <a:r>
              <a:rPr sz="700" dirty="0"/>
              <a:t>to</a:t>
            </a:r>
            <a:r>
              <a:rPr sz="700" spc="25" dirty="0"/>
              <a:t> </a:t>
            </a:r>
            <a:r>
              <a:rPr sz="700" dirty="0"/>
              <a:t>be</a:t>
            </a:r>
            <a:r>
              <a:rPr sz="700" spc="25" dirty="0"/>
              <a:t> </a:t>
            </a:r>
            <a:r>
              <a:rPr sz="700" spc="-10" dirty="0"/>
              <a:t>University)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7</a:t>
            </a:fld>
            <a:r>
              <a:rPr spc="-10" dirty="0"/>
              <a:t>/10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2882900" y="1535810"/>
            <a:ext cx="2582530" cy="156388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20" dirty="0">
                <a:solidFill>
                  <a:srgbClr val="133768"/>
                </a:solidFill>
                <a:latin typeface="Tahoma"/>
                <a:cs typeface="Tahoma"/>
              </a:rPr>
              <a:t>Data</a:t>
            </a:r>
            <a:r>
              <a:rPr sz="1100" b="1" spc="-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133768"/>
                </a:solidFill>
                <a:latin typeface="Tahoma"/>
                <a:cs typeface="Tahoma"/>
              </a:rPr>
              <a:t>/ </a:t>
            </a:r>
            <a:r>
              <a:rPr sz="1100" b="1" spc="-40" dirty="0">
                <a:solidFill>
                  <a:srgbClr val="133768"/>
                </a:solidFill>
                <a:latin typeface="Tahoma"/>
                <a:cs typeface="Tahoma"/>
              </a:rPr>
              <a:t>Control</a:t>
            </a:r>
            <a:r>
              <a:rPr sz="1100" b="1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spc="-20" dirty="0">
                <a:solidFill>
                  <a:srgbClr val="133768"/>
                </a:solidFill>
                <a:latin typeface="Tahoma"/>
                <a:cs typeface="Tahoma"/>
              </a:rPr>
              <a:t>Flow</a:t>
            </a:r>
            <a:endParaRPr lang="en-IN" sz="1100" b="1" spc="-20" dirty="0">
              <a:solidFill>
                <a:srgbClr val="133768"/>
              </a:solidFill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dirty="0">
                <a:latin typeface="Arial"/>
                <a:cs typeface="Arial"/>
              </a:rPr>
              <a:t>Reports are analysis , grouped, </a:t>
            </a:r>
            <a:r>
              <a:rPr lang="en-US" sz="1100" dirty="0" err="1">
                <a:latin typeface="Arial"/>
                <a:cs typeface="Arial"/>
              </a:rPr>
              <a:t>prioritised</a:t>
            </a:r>
            <a:r>
              <a:rPr lang="en-US" sz="1100" dirty="0">
                <a:latin typeface="Arial"/>
                <a:cs typeface="Arial"/>
              </a:rPr>
              <a:t> and then responded.</a:t>
            </a: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dirty="0">
                <a:latin typeface="Arial"/>
                <a:cs typeface="Arial"/>
              </a:rPr>
              <a:t>Each module process data and passes it to next.</a:t>
            </a: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b="1" dirty="0">
                <a:latin typeface="Arial"/>
                <a:cs typeface="Arial"/>
              </a:rPr>
              <a:t>Output</a:t>
            </a:r>
            <a:r>
              <a:rPr lang="en-US" sz="1100" dirty="0">
                <a:latin typeface="Arial"/>
                <a:cs typeface="Arial"/>
              </a:rPr>
              <a:t>: Grouped </a:t>
            </a:r>
            <a:r>
              <a:rPr lang="en-US" sz="1100" dirty="0" err="1">
                <a:latin typeface="Arial"/>
                <a:cs typeface="Arial"/>
              </a:rPr>
              <a:t>incidents,priority</a:t>
            </a:r>
            <a:r>
              <a:rPr lang="en-US" sz="1100" dirty="0">
                <a:latin typeface="Arial"/>
                <a:cs typeface="Arial"/>
              </a:rPr>
              <a:t>, and response team</a:t>
            </a: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endParaRPr lang="en-US" sz="1100" dirty="0">
              <a:latin typeface="Arial"/>
              <a:cs typeface="Arial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AA8041-A77C-F755-531F-0169A3C0124B}"/>
              </a:ext>
            </a:extLst>
          </p:cNvPr>
          <p:cNvSpPr/>
          <p:nvPr/>
        </p:nvSpPr>
        <p:spPr>
          <a:xfrm>
            <a:off x="172110" y="1539097"/>
            <a:ext cx="2402967" cy="1380282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6C502CF-E60A-4918-5DB5-BEAAA738AEF3}"/>
              </a:ext>
            </a:extLst>
          </p:cNvPr>
          <p:cNvSpPr/>
          <p:nvPr/>
        </p:nvSpPr>
        <p:spPr>
          <a:xfrm>
            <a:off x="2882900" y="1525079"/>
            <a:ext cx="2695723" cy="1394297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5" name="object 4"/>
          <p:cNvGrpSpPr/>
          <p:nvPr/>
        </p:nvGrpSpPr>
        <p:grpSpPr>
          <a:xfrm>
            <a:off x="252958" y="668035"/>
            <a:ext cx="977947" cy="515490"/>
            <a:chOff x="428336" y="1228708"/>
            <a:chExt cx="779145" cy="368935"/>
          </a:xfrm>
        </p:grpSpPr>
        <p:sp>
          <p:nvSpPr>
            <p:cNvPr id="36" name="object 5"/>
            <p:cNvSpPr/>
            <p:nvPr/>
          </p:nvSpPr>
          <p:spPr>
            <a:xfrm>
              <a:off x="430876" y="1231248"/>
              <a:ext cx="774065" cy="363855"/>
            </a:xfrm>
            <a:custGeom>
              <a:avLst/>
              <a:gdLst/>
              <a:ahLst/>
              <a:cxnLst/>
              <a:rect l="l" t="t" r="r" b="b"/>
              <a:pathLst>
                <a:path w="774065" h="36385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13074"/>
                  </a:lnTo>
                  <a:lnTo>
                    <a:pt x="3977" y="332774"/>
                  </a:lnTo>
                  <a:lnTo>
                    <a:pt x="14823" y="348861"/>
                  </a:lnTo>
                  <a:lnTo>
                    <a:pt x="30910" y="359707"/>
                  </a:lnTo>
                  <a:lnTo>
                    <a:pt x="50610" y="363685"/>
                  </a:lnTo>
                  <a:lnTo>
                    <a:pt x="723396" y="363685"/>
                  </a:lnTo>
                  <a:lnTo>
                    <a:pt x="743096" y="359707"/>
                  </a:lnTo>
                  <a:lnTo>
                    <a:pt x="759183" y="348861"/>
                  </a:lnTo>
                  <a:lnTo>
                    <a:pt x="770030" y="332774"/>
                  </a:lnTo>
                  <a:lnTo>
                    <a:pt x="774007" y="313074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3" y="14823"/>
                  </a:lnTo>
                  <a:lnTo>
                    <a:pt x="743096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6"/>
            <p:cNvSpPr/>
            <p:nvPr/>
          </p:nvSpPr>
          <p:spPr>
            <a:xfrm>
              <a:off x="430876" y="1231248"/>
              <a:ext cx="774065" cy="363855"/>
            </a:xfrm>
            <a:custGeom>
              <a:avLst/>
              <a:gdLst/>
              <a:ahLst/>
              <a:cxnLst/>
              <a:rect l="l" t="t" r="r" b="b"/>
              <a:pathLst>
                <a:path w="774065" h="36385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13074"/>
                  </a:lnTo>
                  <a:lnTo>
                    <a:pt x="3977" y="332774"/>
                  </a:lnTo>
                  <a:lnTo>
                    <a:pt x="14823" y="348861"/>
                  </a:lnTo>
                  <a:lnTo>
                    <a:pt x="30910" y="359707"/>
                  </a:lnTo>
                  <a:lnTo>
                    <a:pt x="50610" y="363685"/>
                  </a:lnTo>
                  <a:lnTo>
                    <a:pt x="723396" y="363685"/>
                  </a:lnTo>
                  <a:lnTo>
                    <a:pt x="743096" y="359707"/>
                  </a:lnTo>
                  <a:lnTo>
                    <a:pt x="759183" y="348861"/>
                  </a:lnTo>
                  <a:lnTo>
                    <a:pt x="770030" y="332774"/>
                  </a:lnTo>
                  <a:lnTo>
                    <a:pt x="774007" y="313074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3" y="14823"/>
                  </a:lnTo>
                  <a:lnTo>
                    <a:pt x="743096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7"/>
          <p:cNvSpPr txBox="1"/>
          <p:nvPr/>
        </p:nvSpPr>
        <p:spPr>
          <a:xfrm>
            <a:off x="321487" y="694538"/>
            <a:ext cx="829698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39700">
              <a:lnSpc>
                <a:spcPct val="100000"/>
              </a:lnSpc>
              <a:spcBef>
                <a:spcPts val="95"/>
              </a:spcBef>
            </a:pPr>
            <a:r>
              <a:rPr lang="en-IN" sz="1000" spc="-10" dirty="0">
                <a:latin typeface="Tahoma"/>
                <a:cs typeface="Tahoma"/>
              </a:rPr>
              <a:t>Emergency                                                                  … Reports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43" name="object 8"/>
          <p:cNvGrpSpPr/>
          <p:nvPr/>
        </p:nvGrpSpPr>
        <p:grpSpPr>
          <a:xfrm>
            <a:off x="1416962" y="670498"/>
            <a:ext cx="774064" cy="499496"/>
            <a:chOff x="1459407" y="1232222"/>
            <a:chExt cx="779145" cy="361950"/>
          </a:xfrm>
        </p:grpSpPr>
        <p:sp>
          <p:nvSpPr>
            <p:cNvPr id="44" name="object 9"/>
            <p:cNvSpPr/>
            <p:nvPr/>
          </p:nvSpPr>
          <p:spPr>
            <a:xfrm>
              <a:off x="1461947" y="1234762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7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7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10"/>
            <p:cNvSpPr/>
            <p:nvPr/>
          </p:nvSpPr>
          <p:spPr>
            <a:xfrm>
              <a:off x="1461947" y="1234762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7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7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11"/>
          <p:cNvSpPr txBox="1"/>
          <p:nvPr/>
        </p:nvSpPr>
        <p:spPr>
          <a:xfrm>
            <a:off x="1486550" y="656602"/>
            <a:ext cx="636997" cy="4994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1765" marR="5080" indent="-139700">
              <a:lnSpc>
                <a:spcPct val="100000"/>
              </a:lnSpc>
              <a:spcBef>
                <a:spcPts val="95"/>
              </a:spcBef>
            </a:pPr>
            <a:r>
              <a:rPr lang="en-IN" sz="1000" spc="-40" dirty="0">
                <a:latin typeface="Tahoma"/>
                <a:cs typeface="Tahoma"/>
              </a:rPr>
              <a:t>Call Analyse</a:t>
            </a:r>
          </a:p>
          <a:p>
            <a:pPr marL="151765" marR="5080" indent="-139700">
              <a:lnSpc>
                <a:spcPct val="100000"/>
              </a:lnSpc>
              <a:spcBef>
                <a:spcPts val="95"/>
              </a:spcBef>
            </a:pPr>
            <a:r>
              <a:rPr lang="en-IN" sz="1000" spc="-40" dirty="0">
                <a:latin typeface="Tahoma"/>
                <a:cs typeface="Tahoma"/>
              </a:rPr>
              <a:t>&amp; Similarity</a:t>
            </a:r>
          </a:p>
          <a:p>
            <a:pPr marL="151765" marR="5080" indent="-139700">
              <a:lnSpc>
                <a:spcPct val="100000"/>
              </a:lnSpc>
              <a:spcBef>
                <a:spcPts val="95"/>
              </a:spcBef>
            </a:pPr>
            <a:r>
              <a:rPr lang="en-IN" sz="1000" spc="-40" dirty="0">
                <a:latin typeface="Tahoma"/>
                <a:cs typeface="Tahoma"/>
              </a:rPr>
              <a:t>Detection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47" name="object 12"/>
          <p:cNvGrpSpPr/>
          <p:nvPr/>
        </p:nvGrpSpPr>
        <p:grpSpPr>
          <a:xfrm>
            <a:off x="2453203" y="684291"/>
            <a:ext cx="799562" cy="530772"/>
            <a:chOff x="2490479" y="1232222"/>
            <a:chExt cx="779145" cy="361950"/>
          </a:xfrm>
        </p:grpSpPr>
        <p:sp>
          <p:nvSpPr>
            <p:cNvPr id="48" name="object 13"/>
            <p:cNvSpPr/>
            <p:nvPr/>
          </p:nvSpPr>
          <p:spPr>
            <a:xfrm>
              <a:off x="2493019" y="1234762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6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14"/>
            <p:cNvSpPr/>
            <p:nvPr/>
          </p:nvSpPr>
          <p:spPr>
            <a:xfrm>
              <a:off x="2493019" y="1234762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6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15"/>
          <p:cNvSpPr txBox="1"/>
          <p:nvPr/>
        </p:nvSpPr>
        <p:spPr>
          <a:xfrm>
            <a:off x="2493183" y="677237"/>
            <a:ext cx="77027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0320">
              <a:lnSpc>
                <a:spcPct val="100000"/>
              </a:lnSpc>
              <a:spcBef>
                <a:spcPts val="95"/>
              </a:spcBef>
            </a:pPr>
            <a:r>
              <a:rPr lang="en-IN" sz="1000" spc="-20" dirty="0">
                <a:latin typeface="Tahoma"/>
                <a:cs typeface="Tahoma"/>
              </a:rPr>
              <a:t>Incident Grouping 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51" name="object 16"/>
          <p:cNvGrpSpPr/>
          <p:nvPr/>
        </p:nvGrpSpPr>
        <p:grpSpPr>
          <a:xfrm>
            <a:off x="3553296" y="694538"/>
            <a:ext cx="935254" cy="539394"/>
            <a:chOff x="3524091" y="1234762"/>
            <a:chExt cx="774065" cy="356870"/>
          </a:xfrm>
        </p:grpSpPr>
        <p:sp>
          <p:nvSpPr>
            <p:cNvPr id="52" name="object 17"/>
            <p:cNvSpPr/>
            <p:nvPr/>
          </p:nvSpPr>
          <p:spPr>
            <a:xfrm>
              <a:off x="3524091" y="1234762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6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18"/>
            <p:cNvSpPr/>
            <p:nvPr/>
          </p:nvSpPr>
          <p:spPr>
            <a:xfrm>
              <a:off x="3524091" y="1234762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6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19"/>
          <p:cNvSpPr txBox="1"/>
          <p:nvPr/>
        </p:nvSpPr>
        <p:spPr>
          <a:xfrm>
            <a:off x="3650575" y="669779"/>
            <a:ext cx="769491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6839" marR="5080" indent="-104775">
              <a:lnSpc>
                <a:spcPct val="100000"/>
              </a:lnSpc>
              <a:spcBef>
                <a:spcPts val="95"/>
              </a:spcBef>
            </a:pPr>
            <a:r>
              <a:rPr lang="en-IN" sz="1000" spc="-45" dirty="0">
                <a:latin typeface="Tahoma"/>
                <a:cs typeface="Tahoma"/>
              </a:rPr>
              <a:t>C++  Data Structure/ File Storage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55" name="object 20"/>
          <p:cNvGrpSpPr/>
          <p:nvPr/>
        </p:nvGrpSpPr>
        <p:grpSpPr>
          <a:xfrm>
            <a:off x="4703940" y="628695"/>
            <a:ext cx="774065" cy="539394"/>
            <a:chOff x="4555163" y="1247064"/>
            <a:chExt cx="774065" cy="332105"/>
          </a:xfrm>
        </p:grpSpPr>
        <p:sp>
          <p:nvSpPr>
            <p:cNvPr id="56" name="object 21"/>
            <p:cNvSpPr/>
            <p:nvPr/>
          </p:nvSpPr>
          <p:spPr>
            <a:xfrm>
              <a:off x="4555163" y="1247064"/>
              <a:ext cx="774065" cy="332105"/>
            </a:xfrm>
            <a:custGeom>
              <a:avLst/>
              <a:gdLst/>
              <a:ahLst/>
              <a:cxnLst/>
              <a:rect l="l" t="t" r="r" b="b"/>
              <a:pathLst>
                <a:path w="774064" h="33210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1442"/>
                  </a:lnTo>
                  <a:lnTo>
                    <a:pt x="3977" y="301142"/>
                  </a:lnTo>
                  <a:lnTo>
                    <a:pt x="14823" y="317229"/>
                  </a:lnTo>
                  <a:lnTo>
                    <a:pt x="30910" y="328076"/>
                  </a:lnTo>
                  <a:lnTo>
                    <a:pt x="50610" y="332053"/>
                  </a:lnTo>
                  <a:lnTo>
                    <a:pt x="723396" y="332053"/>
                  </a:lnTo>
                  <a:lnTo>
                    <a:pt x="743097" y="328076"/>
                  </a:lnTo>
                  <a:lnTo>
                    <a:pt x="759184" y="317229"/>
                  </a:lnTo>
                  <a:lnTo>
                    <a:pt x="770030" y="301142"/>
                  </a:lnTo>
                  <a:lnTo>
                    <a:pt x="774007" y="281442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7" name="object 22"/>
            <p:cNvSpPr/>
            <p:nvPr/>
          </p:nvSpPr>
          <p:spPr>
            <a:xfrm>
              <a:off x="4555163" y="1247064"/>
              <a:ext cx="774065" cy="332105"/>
            </a:xfrm>
            <a:custGeom>
              <a:avLst/>
              <a:gdLst/>
              <a:ahLst/>
              <a:cxnLst/>
              <a:rect l="l" t="t" r="r" b="b"/>
              <a:pathLst>
                <a:path w="774064" h="33210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1442"/>
                  </a:lnTo>
                  <a:lnTo>
                    <a:pt x="3977" y="301142"/>
                  </a:lnTo>
                  <a:lnTo>
                    <a:pt x="14823" y="317229"/>
                  </a:lnTo>
                  <a:lnTo>
                    <a:pt x="30910" y="328076"/>
                  </a:lnTo>
                  <a:lnTo>
                    <a:pt x="50610" y="332053"/>
                  </a:lnTo>
                  <a:lnTo>
                    <a:pt x="723396" y="332053"/>
                  </a:lnTo>
                  <a:lnTo>
                    <a:pt x="743097" y="328076"/>
                  </a:lnTo>
                  <a:lnTo>
                    <a:pt x="759184" y="317229"/>
                  </a:lnTo>
                  <a:lnTo>
                    <a:pt x="770030" y="301142"/>
                  </a:lnTo>
                  <a:lnTo>
                    <a:pt x="774007" y="281442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23"/>
          <p:cNvSpPr txBox="1"/>
          <p:nvPr/>
        </p:nvSpPr>
        <p:spPr>
          <a:xfrm>
            <a:off x="4777187" y="695867"/>
            <a:ext cx="705535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735" marR="5080" indent="-26670">
              <a:lnSpc>
                <a:spcPct val="100000"/>
              </a:lnSpc>
              <a:spcBef>
                <a:spcPts val="95"/>
              </a:spcBef>
            </a:pPr>
            <a:r>
              <a:rPr lang="en-IN" sz="1000" spc="-25" dirty="0">
                <a:latin typeface="Tahoma"/>
                <a:cs typeface="Tahoma"/>
              </a:rPr>
              <a:t>Prioritized Incidents &amp; Response 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7DAE080D-F435-65F6-B4EF-486AC0DF9DD9}"/>
              </a:ext>
            </a:extLst>
          </p:cNvPr>
          <p:cNvSpPr/>
          <p:nvPr/>
        </p:nvSpPr>
        <p:spPr>
          <a:xfrm>
            <a:off x="1248241" y="898602"/>
            <a:ext cx="200603" cy="1850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7CD42A48-B781-E5D6-01B4-E3E1F0A6701E}"/>
              </a:ext>
            </a:extLst>
          </p:cNvPr>
          <p:cNvSpPr/>
          <p:nvPr/>
        </p:nvSpPr>
        <p:spPr>
          <a:xfrm>
            <a:off x="2208063" y="911673"/>
            <a:ext cx="245140" cy="1850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8147BC13-97D5-FF43-2379-2A96CE4B36DA}"/>
              </a:ext>
            </a:extLst>
          </p:cNvPr>
          <p:cNvSpPr/>
          <p:nvPr/>
        </p:nvSpPr>
        <p:spPr>
          <a:xfrm>
            <a:off x="3271062" y="906350"/>
            <a:ext cx="268984" cy="1772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DF5B609D-6269-300B-6135-2D277152A2E9}"/>
              </a:ext>
            </a:extLst>
          </p:cNvPr>
          <p:cNvSpPr/>
          <p:nvPr/>
        </p:nvSpPr>
        <p:spPr>
          <a:xfrm>
            <a:off x="4501800" y="890781"/>
            <a:ext cx="192505" cy="1928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6845" y="129787"/>
            <a:ext cx="3785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Technology</a:t>
            </a:r>
            <a:r>
              <a:rPr spc="20" dirty="0"/>
              <a:t> </a:t>
            </a:r>
            <a:r>
              <a:rPr spc="-10" dirty="0"/>
              <a:t>Stack</a:t>
            </a:r>
            <a:r>
              <a:rPr spc="20" dirty="0"/>
              <a:t> </a:t>
            </a:r>
            <a:r>
              <a:rPr spc="85" dirty="0"/>
              <a:t>&amp;</a:t>
            </a:r>
            <a:r>
              <a:rPr spc="25" dirty="0"/>
              <a:t> </a:t>
            </a:r>
            <a:r>
              <a:rPr spc="-45" dirty="0"/>
              <a:t>Methodology</a:t>
            </a:r>
          </a:p>
        </p:txBody>
      </p:sp>
      <p:sp>
        <p:nvSpPr>
          <p:cNvPr id="3" name="object 3"/>
          <p:cNvSpPr/>
          <p:nvPr/>
        </p:nvSpPr>
        <p:spPr>
          <a:xfrm>
            <a:off x="292100" y="479425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0146" y="569204"/>
            <a:ext cx="2455409" cy="251791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0146" y="589263"/>
            <a:ext cx="2371676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1200" b="1" spc="-65" dirty="0">
                <a:solidFill>
                  <a:srgbClr val="133768"/>
                </a:solidFill>
                <a:latin typeface="Arial MT"/>
                <a:cs typeface="Arial MT"/>
              </a:rPr>
              <a:t>Technology </a:t>
            </a:r>
            <a:r>
              <a:rPr sz="1200" b="1" spc="-45" dirty="0">
                <a:solidFill>
                  <a:srgbClr val="133768"/>
                </a:solidFill>
                <a:latin typeface="Arial MT"/>
                <a:cs typeface="Arial MT"/>
              </a:rPr>
              <a:t>Stack</a:t>
            </a:r>
            <a:endParaRPr sz="1200" b="1" dirty="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20146" y="784619"/>
            <a:ext cx="2455545" cy="1212511"/>
            <a:chOff x="309193" y="1390294"/>
            <a:chExt cx="2520950" cy="1042669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390294"/>
              <a:ext cx="252081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9193" y="1434558"/>
              <a:ext cx="2520950" cy="998219"/>
            </a:xfrm>
            <a:custGeom>
              <a:avLst/>
              <a:gdLst/>
              <a:ahLst/>
              <a:cxnLst/>
              <a:rect l="l" t="t" r="r" b="b"/>
              <a:pathLst>
                <a:path w="2520950" h="998219">
                  <a:moveTo>
                    <a:pt x="2520810" y="0"/>
                  </a:moveTo>
                  <a:lnTo>
                    <a:pt x="0" y="0"/>
                  </a:lnTo>
                  <a:lnTo>
                    <a:pt x="0" y="947008"/>
                  </a:lnTo>
                  <a:lnTo>
                    <a:pt x="4008" y="966733"/>
                  </a:lnTo>
                  <a:lnTo>
                    <a:pt x="14922" y="982886"/>
                  </a:lnTo>
                  <a:lnTo>
                    <a:pt x="31075" y="993800"/>
                  </a:lnTo>
                  <a:lnTo>
                    <a:pt x="50800" y="997808"/>
                  </a:lnTo>
                  <a:lnTo>
                    <a:pt x="2470010" y="997808"/>
                  </a:lnTo>
                  <a:lnTo>
                    <a:pt x="2489735" y="993800"/>
                  </a:lnTo>
                  <a:lnTo>
                    <a:pt x="2505888" y="982886"/>
                  </a:lnTo>
                  <a:lnTo>
                    <a:pt x="2516802" y="966733"/>
                  </a:lnTo>
                  <a:lnTo>
                    <a:pt x="2520810" y="947008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8328" y="812283"/>
            <a:ext cx="2559051" cy="812402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lang="en-US" sz="1100" spc="-35" dirty="0">
                <a:latin typeface="Tahoma"/>
                <a:cs typeface="Tahoma"/>
              </a:rPr>
              <a:t>Language</a:t>
            </a:r>
            <a:r>
              <a:rPr sz="1100" spc="-35" dirty="0">
                <a:latin typeface="Tahoma"/>
                <a:cs typeface="Tahoma"/>
              </a:rPr>
              <a:t>: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lang="en-IN" sz="1100" spc="100" dirty="0">
                <a:solidFill>
                  <a:schemeClr val="tx1"/>
                </a:solidFill>
                <a:latin typeface="Arial"/>
                <a:cs typeface="Arial"/>
              </a:rPr>
              <a:t>C++</a:t>
            </a:r>
            <a:endParaRPr sz="11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15265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30" dirty="0">
                <a:latin typeface="Tahoma"/>
                <a:cs typeface="Tahoma"/>
              </a:rPr>
              <a:t>Database:</a:t>
            </a:r>
            <a:r>
              <a:rPr lang="en-IN" sz="1100" spc="50" dirty="0">
                <a:latin typeface="Tahoma"/>
                <a:cs typeface="Tahoma"/>
              </a:rPr>
              <a:t> File-based storage </a:t>
            </a:r>
            <a:endParaRPr lang="en-IN" sz="1100" dirty="0">
              <a:latin typeface="Arial"/>
              <a:cs typeface="Arial"/>
            </a:endParaRPr>
          </a:p>
          <a:p>
            <a:pPr marL="215265" indent="-177165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10" dirty="0">
                <a:latin typeface="Tahoma"/>
                <a:cs typeface="Tahoma"/>
              </a:rPr>
              <a:t>IDE: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lang="en-IN" sz="1100" spc="-20" dirty="0">
                <a:solidFill>
                  <a:schemeClr val="tx1"/>
                </a:solidFill>
                <a:latin typeface="Arial"/>
                <a:cs typeface="Arial"/>
              </a:rPr>
              <a:t>VS Code</a:t>
            </a:r>
            <a:endParaRPr sz="11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15265" indent="-177165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30" dirty="0">
                <a:latin typeface="Tahoma"/>
                <a:cs typeface="Tahoma"/>
              </a:rPr>
              <a:t>Version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Control: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solidFill>
                  <a:schemeClr val="tx1"/>
                </a:solidFill>
                <a:latin typeface="Arial"/>
                <a:cs typeface="Arial"/>
              </a:rPr>
              <a:t>Git</a:t>
            </a:r>
            <a:r>
              <a:rPr sz="1100" spc="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IN" sz="1100" spc="240" dirty="0">
                <a:solidFill>
                  <a:schemeClr val="tx1"/>
                </a:solidFill>
                <a:latin typeface="Arial"/>
                <a:cs typeface="Arial"/>
              </a:rPr>
              <a:t>&amp;</a:t>
            </a:r>
            <a:r>
              <a:rPr sz="1100" spc="-10" dirty="0">
                <a:solidFill>
                  <a:schemeClr val="tx1"/>
                </a:solidFill>
                <a:latin typeface="Arial"/>
                <a:cs typeface="Arial"/>
              </a:rPr>
              <a:t>GitHub</a:t>
            </a:r>
            <a:endParaRPr sz="11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881824" y="563689"/>
            <a:ext cx="2734962" cy="257306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907870" y="607723"/>
            <a:ext cx="2455409" cy="204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60" dirty="0">
                <a:solidFill>
                  <a:srgbClr val="133768"/>
                </a:solidFill>
                <a:latin typeface="Arial MT"/>
                <a:cs typeface="Arial MT"/>
              </a:rPr>
              <a:t>Development</a:t>
            </a:r>
            <a:r>
              <a:rPr sz="1200" b="1" spc="10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b="1" spc="-45" dirty="0">
                <a:solidFill>
                  <a:srgbClr val="133768"/>
                </a:solidFill>
                <a:latin typeface="Arial MT"/>
                <a:cs typeface="Arial MT"/>
              </a:rPr>
              <a:t>Methodology</a:t>
            </a:r>
            <a:endParaRPr sz="1200" b="1" dirty="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78689" y="796511"/>
            <a:ext cx="2735115" cy="1233605"/>
            <a:chOff x="2930016" y="1390294"/>
            <a:chExt cx="2520950" cy="100012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390294"/>
              <a:ext cx="2520810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930016" y="1434563"/>
              <a:ext cx="2520950" cy="955675"/>
            </a:xfrm>
            <a:custGeom>
              <a:avLst/>
              <a:gdLst/>
              <a:ahLst/>
              <a:cxnLst/>
              <a:rect l="l" t="t" r="r" b="b"/>
              <a:pathLst>
                <a:path w="2520950" h="955675">
                  <a:moveTo>
                    <a:pt x="2520810" y="0"/>
                  </a:moveTo>
                  <a:lnTo>
                    <a:pt x="0" y="0"/>
                  </a:lnTo>
                  <a:lnTo>
                    <a:pt x="0" y="904674"/>
                  </a:lnTo>
                  <a:lnTo>
                    <a:pt x="4008" y="924399"/>
                  </a:lnTo>
                  <a:lnTo>
                    <a:pt x="14922" y="940552"/>
                  </a:lnTo>
                  <a:lnTo>
                    <a:pt x="31075" y="951466"/>
                  </a:lnTo>
                  <a:lnTo>
                    <a:pt x="50800" y="955474"/>
                  </a:lnTo>
                  <a:lnTo>
                    <a:pt x="2470010" y="955474"/>
                  </a:lnTo>
                  <a:lnTo>
                    <a:pt x="2489735" y="951466"/>
                  </a:lnTo>
                  <a:lnTo>
                    <a:pt x="2505888" y="940552"/>
                  </a:lnTo>
                  <a:lnTo>
                    <a:pt x="2516802" y="924399"/>
                  </a:lnTo>
                  <a:lnTo>
                    <a:pt x="2520810" y="904674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880457" y="785279"/>
            <a:ext cx="2697015" cy="1212511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90500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lang="en-US" sz="1100" spc="-45" dirty="0">
                <a:latin typeface="Tahoma"/>
                <a:cs typeface="Tahoma"/>
              </a:rPr>
              <a:t>Identify the problem and define system requirement.</a:t>
            </a:r>
          </a:p>
          <a:p>
            <a:pPr marL="190500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lang="en-US" sz="1100" spc="-45" dirty="0">
                <a:latin typeface="Tahoma"/>
                <a:cs typeface="Tahoma"/>
              </a:rPr>
              <a:t>System Architecture and workflow</a:t>
            </a:r>
          </a:p>
          <a:p>
            <a:pPr marL="190500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lang="en-US" sz="1100" spc="-45" dirty="0">
                <a:latin typeface="Tahoma"/>
                <a:cs typeface="Tahoma"/>
              </a:rPr>
              <a:t>Develop core module/classes using C++</a:t>
            </a:r>
          </a:p>
          <a:p>
            <a:pPr marL="190500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lang="en-US" sz="1100" spc="-45" dirty="0">
                <a:latin typeface="Tahoma"/>
                <a:cs typeface="Tahoma"/>
              </a:rPr>
              <a:t> Test the system with different situations</a:t>
            </a:r>
          </a:p>
          <a:p>
            <a:pPr marL="190500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lang="en-US" sz="1100" spc="-45" dirty="0">
                <a:latin typeface="Tahoma"/>
                <a:cs typeface="Tahoma"/>
              </a:rPr>
              <a:t>Analyze the output and overall performance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95300" y="3133522"/>
            <a:ext cx="41592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700" dirty="0"/>
              <a:t>Department</a:t>
            </a:r>
            <a:r>
              <a:rPr sz="700" spc="25" dirty="0"/>
              <a:t> </a:t>
            </a:r>
            <a:r>
              <a:rPr sz="700" dirty="0"/>
              <a:t>of</a:t>
            </a:r>
            <a:r>
              <a:rPr sz="700" spc="25" dirty="0"/>
              <a:t> </a:t>
            </a:r>
            <a:r>
              <a:rPr sz="700" dirty="0"/>
              <a:t>Computer</a:t>
            </a:r>
            <a:r>
              <a:rPr sz="700" spc="25" dirty="0"/>
              <a:t> </a:t>
            </a:r>
            <a:r>
              <a:rPr sz="700" spc="-25" dirty="0"/>
              <a:t>Science</a:t>
            </a:r>
            <a:r>
              <a:rPr sz="700" spc="25" dirty="0"/>
              <a:t> </a:t>
            </a:r>
            <a:r>
              <a:rPr sz="700" spc="80" dirty="0"/>
              <a:t>&amp;</a:t>
            </a:r>
            <a:r>
              <a:rPr sz="700" spc="25" dirty="0"/>
              <a:t> </a:t>
            </a:r>
            <a:r>
              <a:rPr sz="700" spc="-10" dirty="0"/>
              <a:t>Engineering</a:t>
            </a:r>
            <a:r>
              <a:rPr sz="700" spc="25" dirty="0"/>
              <a:t> </a:t>
            </a:r>
            <a:r>
              <a:rPr sz="700" dirty="0"/>
              <a:t>—</a:t>
            </a:r>
            <a:r>
              <a:rPr sz="700" spc="25" dirty="0"/>
              <a:t> </a:t>
            </a:r>
            <a:r>
              <a:rPr sz="700" spc="-10" dirty="0"/>
              <a:t>Graphic</a:t>
            </a:r>
            <a:r>
              <a:rPr sz="700" spc="25" dirty="0"/>
              <a:t> </a:t>
            </a:r>
            <a:r>
              <a:rPr sz="700" dirty="0"/>
              <a:t>Era</a:t>
            </a:r>
            <a:r>
              <a:rPr sz="700" spc="30" dirty="0"/>
              <a:t> </a:t>
            </a:r>
            <a:r>
              <a:rPr sz="700" spc="-10" dirty="0"/>
              <a:t>(Deemed</a:t>
            </a:r>
            <a:r>
              <a:rPr sz="700" spc="25" dirty="0"/>
              <a:t> </a:t>
            </a:r>
            <a:r>
              <a:rPr sz="700" dirty="0"/>
              <a:t>to</a:t>
            </a:r>
            <a:r>
              <a:rPr sz="700" spc="25" dirty="0"/>
              <a:t> </a:t>
            </a:r>
            <a:r>
              <a:rPr sz="700" dirty="0"/>
              <a:t>be</a:t>
            </a:r>
            <a:r>
              <a:rPr sz="700" spc="25" dirty="0"/>
              <a:t> </a:t>
            </a:r>
            <a:r>
              <a:rPr sz="700" spc="-10" dirty="0"/>
              <a:t>University)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8</a:t>
            </a:fld>
            <a:r>
              <a:rPr spc="-10" dirty="0"/>
              <a:t>/10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11397" y="2253473"/>
            <a:ext cx="5126405" cy="6200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dirty="0">
                <a:latin typeface="Arial MT"/>
                <a:cs typeface="Arial MT"/>
              </a:rPr>
              <a:t>Justification:</a:t>
            </a:r>
          </a:p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900" dirty="0">
                <a:latin typeface="Arial MT"/>
                <a:cs typeface="Arial MT"/>
              </a:rPr>
              <a:t>C++ provide direct implementation of DSA,STL and OOPS concepts. </a:t>
            </a:r>
          </a:p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900" dirty="0" err="1">
                <a:latin typeface="Arial MT"/>
                <a:cs typeface="Arial MT"/>
              </a:rPr>
              <a:t>Github</a:t>
            </a:r>
            <a:r>
              <a:rPr lang="en-US" sz="900" dirty="0">
                <a:latin typeface="Arial MT"/>
                <a:cs typeface="Arial MT"/>
              </a:rPr>
              <a:t> provide a setup for development and collaboration.</a:t>
            </a:r>
          </a:p>
          <a:p>
            <a:pPr marL="184150" indent="-1714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900" dirty="0">
                <a:latin typeface="Arial MT"/>
                <a:cs typeface="Arial MT"/>
              </a:rPr>
              <a:t>The Methodology ensue development and testing evaluations </a:t>
            </a:r>
            <a:endParaRPr lang="en-IN" sz="900" dirty="0">
              <a:latin typeface="Arial MT"/>
              <a:cs typeface="Arial MT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6906E6B-3DCD-36B1-DF70-1B823D9B5DB3}"/>
              </a:ext>
            </a:extLst>
          </p:cNvPr>
          <p:cNvSpPr/>
          <p:nvPr/>
        </p:nvSpPr>
        <p:spPr>
          <a:xfrm>
            <a:off x="188328" y="2253473"/>
            <a:ext cx="5126405" cy="722631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8469" y="163705"/>
            <a:ext cx="3785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Initial</a:t>
            </a:r>
            <a:r>
              <a:rPr spc="5" dirty="0"/>
              <a:t> </a:t>
            </a:r>
            <a:r>
              <a:rPr spc="-60" dirty="0"/>
              <a:t>Progress</a:t>
            </a:r>
            <a:r>
              <a:rPr spc="5" dirty="0"/>
              <a:t> </a:t>
            </a:r>
            <a:r>
              <a:rPr spc="85" dirty="0"/>
              <a:t>&amp;</a:t>
            </a:r>
            <a:r>
              <a:rPr spc="10" dirty="0"/>
              <a:t> </a:t>
            </a:r>
            <a:r>
              <a:rPr spc="-25" dirty="0"/>
              <a:t>Team</a:t>
            </a:r>
            <a:r>
              <a:rPr spc="5" dirty="0"/>
              <a:t> </a:t>
            </a:r>
            <a:r>
              <a:rPr spc="-50" dirty="0"/>
              <a:t>Contribution</a:t>
            </a:r>
          </a:p>
        </p:txBody>
      </p:sp>
      <p:sp>
        <p:nvSpPr>
          <p:cNvPr id="3" name="object 3"/>
          <p:cNvSpPr/>
          <p:nvPr/>
        </p:nvSpPr>
        <p:spPr>
          <a:xfrm>
            <a:off x="338469" y="479425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3734" y="719342"/>
            <a:ext cx="2470565" cy="1771638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70" dirty="0">
                <a:solidFill>
                  <a:srgbClr val="133768"/>
                </a:solidFill>
                <a:latin typeface="Tahoma"/>
                <a:cs typeface="Tahoma"/>
              </a:rPr>
              <a:t>Progress</a:t>
            </a:r>
            <a:r>
              <a:rPr sz="1100" b="1" spc="5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Tahoma"/>
                <a:cs typeface="Tahoma"/>
              </a:rPr>
              <a:t>Achieved</a:t>
            </a:r>
            <a:endParaRPr lang="en-IN" sz="1100" b="1" spc="-10" dirty="0">
              <a:solidFill>
                <a:srgbClr val="133768"/>
              </a:solidFill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-40" dirty="0">
                <a:solidFill>
                  <a:schemeClr val="tx1"/>
                </a:solidFill>
                <a:latin typeface="Arial"/>
                <a:cs typeface="Arial"/>
              </a:rPr>
              <a:t>To identify duplicate and related emergency reports.</a:t>
            </a: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-40" dirty="0">
                <a:solidFill>
                  <a:schemeClr val="tx1"/>
                </a:solidFill>
                <a:latin typeface="Arial"/>
                <a:cs typeface="Arial"/>
              </a:rPr>
              <a:t>Studied existing systems and their limitation.</a:t>
            </a: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-40" dirty="0">
                <a:solidFill>
                  <a:schemeClr val="tx1"/>
                </a:solidFill>
                <a:latin typeface="Arial"/>
                <a:cs typeface="Arial"/>
              </a:rPr>
              <a:t>Identified how required system will function.</a:t>
            </a: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-40" dirty="0">
                <a:solidFill>
                  <a:schemeClr val="tx1"/>
                </a:solidFill>
                <a:latin typeface="Arial"/>
                <a:cs typeface="Arial"/>
              </a:rPr>
              <a:t>Prepared system Architecture.</a:t>
            </a:r>
          </a:p>
          <a:p>
            <a:pPr marL="314960" indent="-177165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lang="en-US" sz="1100" spc="-40" dirty="0">
                <a:solidFill>
                  <a:schemeClr val="tx1"/>
                </a:solidFill>
                <a:latin typeface="Arial"/>
                <a:cs typeface="Arial"/>
              </a:rPr>
              <a:t> Designed the workflow of the system</a:t>
            </a:r>
            <a:endParaRPr lang="en-US" sz="11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9</a:t>
            </a:fld>
            <a:r>
              <a:rPr spc="-10" dirty="0"/>
              <a:t>/10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12575" y="674016"/>
            <a:ext cx="26466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633345" algn="l"/>
              </a:tabLst>
            </a:pPr>
            <a:r>
              <a:rPr sz="1100" b="1" u="sng" spc="-85" dirty="0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Individual</a:t>
            </a:r>
            <a:r>
              <a:rPr sz="1100" b="1" u="sng" spc="15" dirty="0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b="1" u="sng" spc="-10" dirty="0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Contribution</a:t>
            </a:r>
            <a:r>
              <a:rPr sz="1100" b="1" u="sng" dirty="0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endParaRPr sz="1100" dirty="0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538108"/>
              </p:ext>
            </p:extLst>
          </p:nvPr>
        </p:nvGraphicFramePr>
        <p:xfrm>
          <a:off x="2925910" y="960626"/>
          <a:ext cx="2620010" cy="1838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4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1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3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64">
                <a:tc>
                  <a:txBody>
                    <a:bodyPr/>
                    <a:lstStyle/>
                    <a:p>
                      <a:pPr>
                        <a:lnSpc>
                          <a:spcPts val="765"/>
                        </a:lnSpc>
                      </a:pPr>
                      <a:r>
                        <a:rPr sz="800" b="1" spc="-10" dirty="0">
                          <a:latin typeface="Arial MT"/>
                          <a:cs typeface="Arial MT"/>
                        </a:rPr>
                        <a:t>Member</a:t>
                      </a:r>
                      <a:endParaRPr sz="800" b="1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765"/>
                        </a:lnSpc>
                      </a:pPr>
                      <a:r>
                        <a:rPr sz="800" b="1" spc="-20" dirty="0">
                          <a:latin typeface="Arial MT"/>
                          <a:cs typeface="Arial MT"/>
                        </a:rPr>
                        <a:t>Role</a:t>
                      </a:r>
                      <a:endParaRPr sz="800" b="1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765"/>
                        </a:lnSpc>
                      </a:pPr>
                      <a:r>
                        <a:rPr sz="800" b="1" spc="-10" dirty="0">
                          <a:latin typeface="Arial MT"/>
                          <a:cs typeface="Arial MT"/>
                        </a:rPr>
                        <a:t>Contribution</a:t>
                      </a:r>
                      <a:endParaRPr sz="800" b="1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7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lang="en-US" sz="900" i="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Avika Dixit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lang="en-US" sz="900" i="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Queue</a:t>
                      </a:r>
                      <a:endParaRPr sz="900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lang="en-US" sz="900" i="0" spc="-2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214629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900" i="0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Lead</a:t>
                      </a:r>
                      <a:endParaRPr sz="900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endParaRPr lang="en-US" sz="900" i="0" spc="-2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lang="en-US" sz="900" i="0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Architecture</a:t>
                      </a:r>
                      <a:endParaRPr sz="900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258">
                <a:tc>
                  <a:txBody>
                    <a:bodyPr/>
                    <a:lstStyle/>
                    <a:p>
                      <a:pPr>
                        <a:lnSpc>
                          <a:spcPts val="835"/>
                        </a:lnSpc>
                      </a:pPr>
                      <a:r>
                        <a:rPr lang="en-IN" sz="900" i="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Saksham</a:t>
                      </a:r>
                    </a:p>
                    <a:p>
                      <a:pPr>
                        <a:lnSpc>
                          <a:spcPts val="835"/>
                        </a:lnSpc>
                      </a:pPr>
                      <a:r>
                        <a:rPr lang="en-IN" sz="900" i="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DSU</a:t>
                      </a:r>
                      <a:endParaRPr sz="900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835"/>
                        </a:lnSpc>
                      </a:pPr>
                      <a:endParaRPr lang="en-US" sz="900" i="0" spc="-1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214629">
                        <a:lnSpc>
                          <a:spcPts val="835"/>
                        </a:lnSpc>
                      </a:pPr>
                      <a:r>
                        <a:rPr sz="900" i="0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Developer</a:t>
                      </a:r>
                      <a:endParaRPr sz="900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835"/>
                        </a:lnSpc>
                      </a:pPr>
                      <a:endParaRPr lang="en-US" sz="900" i="0" spc="-2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74295">
                        <a:lnSpc>
                          <a:spcPts val="835"/>
                        </a:lnSpc>
                      </a:pPr>
                      <a:r>
                        <a:rPr lang="en-IN" sz="900" i="0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Analyzer</a:t>
                      </a:r>
                      <a:endParaRPr sz="900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578">
                <a:tc>
                  <a:txBody>
                    <a:bodyPr/>
                    <a:lstStyle/>
                    <a:p>
                      <a:pPr>
                        <a:lnSpc>
                          <a:spcPts val="835"/>
                        </a:lnSpc>
                      </a:pPr>
                      <a:r>
                        <a:rPr lang="en-IN" sz="900" i="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Nitin Bhandari</a:t>
                      </a:r>
                    </a:p>
                    <a:p>
                      <a:pPr>
                        <a:lnSpc>
                          <a:spcPts val="835"/>
                        </a:lnSpc>
                      </a:pPr>
                      <a:r>
                        <a:rPr lang="en-IN" sz="900" i="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Graph</a:t>
                      </a:r>
                      <a:endParaRPr sz="900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835"/>
                        </a:lnSpc>
                      </a:pPr>
                      <a:endParaRPr lang="en-US" sz="900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214629">
                        <a:lnSpc>
                          <a:spcPts val="835"/>
                        </a:lnSpc>
                      </a:pPr>
                      <a:r>
                        <a:rPr lang="en-IN" sz="900" i="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Backend</a:t>
                      </a:r>
                      <a:endParaRPr sz="900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835"/>
                        </a:lnSpc>
                      </a:pPr>
                      <a:endParaRPr lang="en-US" sz="900" i="0" spc="-2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74295">
                        <a:lnSpc>
                          <a:spcPts val="835"/>
                        </a:lnSpc>
                      </a:pPr>
                      <a:r>
                        <a:rPr lang="en-IN" sz="900" i="0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Hash Map</a:t>
                      </a:r>
                      <a:endParaRPr sz="900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024">
                <a:tc>
                  <a:txBody>
                    <a:bodyPr/>
                    <a:lstStyle/>
                    <a:p>
                      <a:pPr>
                        <a:lnSpc>
                          <a:spcPts val="835"/>
                        </a:lnSpc>
                      </a:pPr>
                      <a:r>
                        <a:rPr lang="en-US" sz="900" i="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Harshita </a:t>
                      </a:r>
                    </a:p>
                    <a:p>
                      <a:pPr>
                        <a:lnSpc>
                          <a:spcPts val="835"/>
                        </a:lnSpc>
                      </a:pPr>
                      <a:r>
                        <a:rPr lang="en-US" sz="900" i="0" spc="-25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Docs</a:t>
                      </a:r>
                      <a:endParaRPr sz="900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835"/>
                        </a:lnSpc>
                      </a:pPr>
                      <a:endParaRPr lang="en-US" sz="900" i="0" spc="-1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214629">
                        <a:lnSpc>
                          <a:spcPts val="835"/>
                        </a:lnSpc>
                      </a:pPr>
                      <a:r>
                        <a:rPr lang="en-IN" sz="900" i="0" spc="-1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Testing</a:t>
                      </a:r>
                      <a:endParaRPr lang="en-US" sz="900" i="0" spc="-1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ts val="835"/>
                        </a:lnSpc>
                      </a:pPr>
                      <a:endParaRPr lang="en-US" sz="900" i="0" spc="-2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  <a:p>
                      <a:pPr marL="74295">
                        <a:lnSpc>
                          <a:spcPts val="835"/>
                        </a:lnSpc>
                      </a:pPr>
                      <a:r>
                        <a:rPr lang="en-IN" sz="900" i="0" spc="-20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Priority Queue</a:t>
                      </a:r>
                      <a:endParaRPr sz="900" i="0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088C6CD-1B2B-BB57-F7FE-6720F3D7DCD1}"/>
              </a:ext>
            </a:extLst>
          </p:cNvPr>
          <p:cNvSpPr/>
          <p:nvPr/>
        </p:nvSpPr>
        <p:spPr>
          <a:xfrm>
            <a:off x="2806700" y="550671"/>
            <a:ext cx="2858431" cy="2343475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DC2A0D-D3A0-4B53-0DC4-E5F2CDAB1EDE}"/>
              </a:ext>
            </a:extLst>
          </p:cNvPr>
          <p:cNvSpPr/>
          <p:nvPr/>
        </p:nvSpPr>
        <p:spPr>
          <a:xfrm>
            <a:off x="95300" y="550672"/>
            <a:ext cx="2592189" cy="2343473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9994" y="120157"/>
            <a:ext cx="3785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Roadmap,</a:t>
            </a:r>
            <a:r>
              <a:rPr spc="10" dirty="0"/>
              <a:t> </a:t>
            </a:r>
            <a:r>
              <a:rPr spc="-40" dirty="0"/>
              <a:t>Expected</a:t>
            </a:r>
            <a:r>
              <a:rPr spc="10" dirty="0"/>
              <a:t> </a:t>
            </a:r>
            <a:r>
              <a:rPr spc="-45" dirty="0"/>
              <a:t>Outcomes</a:t>
            </a:r>
            <a:r>
              <a:rPr spc="15" dirty="0"/>
              <a:t> </a:t>
            </a:r>
            <a:r>
              <a:rPr spc="85" dirty="0"/>
              <a:t>&amp;</a:t>
            </a:r>
            <a:r>
              <a:rPr spc="10" dirty="0"/>
              <a:t> </a:t>
            </a:r>
            <a:r>
              <a:rPr spc="-75" dirty="0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397807" y="36463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xfrm>
            <a:off x="139700" y="552646"/>
            <a:ext cx="2743200" cy="246413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434"/>
              </a:spcBef>
            </a:pPr>
            <a:r>
              <a:rPr sz="1200" spc="-10" dirty="0"/>
              <a:t>Roadmap</a:t>
            </a:r>
          </a:p>
          <a:p>
            <a:pPr marL="328295" indent="-177800">
              <a:lnSpc>
                <a:spcPct val="100000"/>
              </a:lnSpc>
              <a:spcBef>
                <a:spcPts val="334"/>
              </a:spcBef>
              <a:buClr>
                <a:srgbClr val="133768"/>
              </a:buClr>
              <a:buAutoNum type="arabicPeriod"/>
              <a:tabLst>
                <a:tab pos="328295" algn="l"/>
              </a:tabLst>
            </a:pPr>
            <a:r>
              <a:rPr spc="-65" dirty="0">
                <a:solidFill>
                  <a:srgbClr val="000000"/>
                </a:solidFill>
                <a:latin typeface="Tahoma"/>
                <a:cs typeface="Tahoma"/>
              </a:rPr>
              <a:t>Phase-</a:t>
            </a:r>
            <a:r>
              <a:rPr dirty="0">
                <a:solidFill>
                  <a:srgbClr val="000000"/>
                </a:solidFill>
                <a:latin typeface="Tahoma"/>
                <a:cs typeface="Tahoma"/>
              </a:rPr>
              <a:t>I:</a:t>
            </a:r>
            <a:r>
              <a:rPr spc="-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lang="en-US" b="0" spc="-15" dirty="0">
                <a:solidFill>
                  <a:srgbClr val="000000"/>
                </a:solidFill>
                <a:latin typeface="Tahoma"/>
                <a:cs typeface="Tahoma"/>
              </a:rPr>
              <a:t>Problem Analysis , </a:t>
            </a:r>
            <a:r>
              <a:rPr lang="en-US" b="0" spc="-20" dirty="0">
                <a:solidFill>
                  <a:srgbClr val="000000"/>
                </a:solidFill>
              </a:rPr>
              <a:t>Project Proposal ,Design, Workflow</a:t>
            </a:r>
            <a:endParaRPr b="0" spc="-10" dirty="0">
              <a:solidFill>
                <a:srgbClr val="000000"/>
              </a:solidFill>
              <a:latin typeface="Tahoma"/>
              <a:cs typeface="Tahoma"/>
            </a:endParaRPr>
          </a:p>
          <a:p>
            <a:pPr marL="328295" indent="-177800">
              <a:lnSpc>
                <a:spcPct val="100000"/>
              </a:lnSpc>
              <a:spcBef>
                <a:spcPts val="330"/>
              </a:spcBef>
              <a:buClr>
                <a:srgbClr val="133768"/>
              </a:buClr>
              <a:buAutoNum type="arabicPeriod"/>
              <a:tabLst>
                <a:tab pos="328295" algn="l"/>
              </a:tabLst>
            </a:pPr>
            <a:r>
              <a:rPr spc="-55" dirty="0">
                <a:solidFill>
                  <a:srgbClr val="000000"/>
                </a:solidFill>
                <a:latin typeface="Tahoma"/>
                <a:cs typeface="Tahoma"/>
              </a:rPr>
              <a:t>Phase-</a:t>
            </a:r>
            <a:r>
              <a:rPr spc="-50" dirty="0">
                <a:solidFill>
                  <a:srgbClr val="000000"/>
                </a:solidFill>
                <a:latin typeface="Tahoma"/>
                <a:cs typeface="Tahoma"/>
              </a:rPr>
              <a:t>II:</a:t>
            </a:r>
            <a:r>
              <a:rPr spc="-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lang="en-US" b="0" spc="-10" dirty="0">
                <a:solidFill>
                  <a:srgbClr val="000000"/>
                </a:solidFill>
              </a:rPr>
              <a:t>Develop and implement of main features.</a:t>
            </a:r>
            <a:endParaRPr b="0" spc="-10" dirty="0">
              <a:solidFill>
                <a:srgbClr val="000000"/>
              </a:solidFill>
              <a:latin typeface="Tahoma"/>
              <a:cs typeface="Tahoma"/>
            </a:endParaRPr>
          </a:p>
          <a:p>
            <a:pPr marL="328295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328295" algn="l"/>
              </a:tabLst>
            </a:pPr>
            <a:r>
              <a:rPr spc="-55" dirty="0">
                <a:solidFill>
                  <a:srgbClr val="000000"/>
                </a:solidFill>
                <a:latin typeface="Tahoma"/>
                <a:cs typeface="Tahoma"/>
              </a:rPr>
              <a:t>Phase-</a:t>
            </a:r>
            <a:r>
              <a:rPr spc="-65" dirty="0">
                <a:solidFill>
                  <a:srgbClr val="000000"/>
                </a:solidFill>
                <a:latin typeface="Tahoma"/>
                <a:cs typeface="Tahoma"/>
              </a:rPr>
              <a:t>III:</a:t>
            </a:r>
            <a:r>
              <a:rPr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Testing of final system.</a:t>
            </a:r>
            <a:endParaRPr b="0" spc="-35" dirty="0">
              <a:solidFill>
                <a:srgbClr val="000000"/>
              </a:solidFill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900"/>
              </a:spcBef>
            </a:pPr>
            <a:r>
              <a:rPr sz="1200" spc="-50" dirty="0"/>
              <a:t>Expected</a:t>
            </a:r>
            <a:r>
              <a:rPr sz="1200" spc="-10" dirty="0"/>
              <a:t> Outcomes</a:t>
            </a:r>
          </a:p>
          <a:p>
            <a:pPr marL="327660" lvl="1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27660" algn="l"/>
              </a:tabLst>
            </a:pPr>
            <a:r>
              <a:rPr lang="en-US" sz="1100" spc="-30" dirty="0">
                <a:solidFill>
                  <a:schemeClr val="tx1"/>
                </a:solidFill>
                <a:latin typeface="Arial"/>
                <a:cs typeface="Arial"/>
              </a:rPr>
              <a:t>System to identify and group same emergency reports</a:t>
            </a:r>
          </a:p>
          <a:p>
            <a:pPr marL="327660" lvl="1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27660" algn="l"/>
              </a:tabLst>
            </a:pPr>
            <a:r>
              <a:rPr lang="en-US" sz="1100" spc="-30" dirty="0">
                <a:solidFill>
                  <a:schemeClr val="tx1"/>
                </a:solidFill>
                <a:latin typeface="Arial"/>
                <a:cs typeface="Arial"/>
              </a:rPr>
              <a:t>To improve incident </a:t>
            </a:r>
            <a:r>
              <a:rPr lang="en-US" sz="1100" spc="-30" dirty="0" err="1">
                <a:solidFill>
                  <a:schemeClr val="tx1"/>
                </a:solidFill>
                <a:latin typeface="Arial"/>
                <a:cs typeface="Arial"/>
              </a:rPr>
              <a:t>Prioritisation</a:t>
            </a:r>
            <a:r>
              <a:rPr lang="en-US" sz="1100" spc="-30" dirty="0">
                <a:solidFill>
                  <a:schemeClr val="tx1"/>
                </a:solidFill>
                <a:latin typeface="Arial"/>
                <a:cs typeface="Arial"/>
              </a:rPr>
              <a:t> System.</a:t>
            </a:r>
          </a:p>
          <a:p>
            <a:pPr marL="327660" lvl="1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27660" algn="l"/>
              </a:tabLst>
            </a:pPr>
            <a:r>
              <a:rPr lang="en-US" sz="1100" spc="-30" dirty="0">
                <a:solidFill>
                  <a:schemeClr val="tx1"/>
                </a:solidFill>
                <a:latin typeface="Arial"/>
                <a:cs typeface="Arial"/>
              </a:rPr>
              <a:t>Can  be expand in </a:t>
            </a:r>
            <a:r>
              <a:rPr lang="en-US" sz="1100" spc="-30" dirty="0" err="1">
                <a:solidFill>
                  <a:schemeClr val="tx1"/>
                </a:solidFill>
                <a:latin typeface="Arial"/>
                <a:cs typeface="Arial"/>
              </a:rPr>
              <a:t>futurewith</a:t>
            </a:r>
            <a:r>
              <a:rPr lang="en-US" sz="1100" spc="-30" dirty="0">
                <a:solidFill>
                  <a:schemeClr val="tx1"/>
                </a:solidFill>
                <a:latin typeface="Arial"/>
                <a:cs typeface="Arial"/>
              </a:rPr>
              <a:t> advance features</a:t>
            </a:r>
            <a:endParaRPr sz="11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10</a:t>
            </a:fld>
            <a:r>
              <a:rPr spc="-10" dirty="0"/>
              <a:t>/10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14298" y="466952"/>
            <a:ext cx="2398344" cy="44563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solidFill>
                  <a:srgbClr val="133768"/>
                </a:solidFill>
                <a:latin typeface="Tahoma"/>
                <a:cs typeface="Tahoma"/>
              </a:rPr>
              <a:t>References</a:t>
            </a:r>
            <a:endParaRPr lang="en-US" sz="1100" b="1" spc="-10" dirty="0">
              <a:solidFill>
                <a:srgbClr val="133768"/>
              </a:solidFill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434"/>
              </a:spcBef>
              <a:buFont typeface="+mj-lt"/>
              <a:buAutoNum type="arabicPeriod"/>
            </a:pP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10610" y="2654640"/>
            <a:ext cx="2302032" cy="335989"/>
          </a:xfrm>
          <a:prstGeom prst="rect">
            <a:avLst/>
          </a:prstGeom>
          <a:solidFill>
            <a:srgbClr val="13376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75"/>
              </a:lnSpc>
            </a:pPr>
            <a:r>
              <a:rPr sz="1100" b="1" spc="-25" dirty="0">
                <a:solidFill>
                  <a:srgbClr val="FFFFFF"/>
                </a:solidFill>
                <a:latin typeface="Tahoma"/>
                <a:cs typeface="Tahoma"/>
              </a:rPr>
              <a:t>Thank</a:t>
            </a:r>
            <a:r>
              <a:rPr sz="11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endParaRPr sz="11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Questions</a:t>
            </a:r>
            <a:r>
              <a:rPr sz="11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85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Suggestions</a:t>
            </a:r>
            <a:endParaRPr sz="1100" dirty="0">
              <a:latin typeface="Tahoma"/>
              <a:cs typeface="Tahoma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008164F-EEC6-9919-D839-F5B31A8EC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392964"/>
              </p:ext>
            </p:extLst>
          </p:nvPr>
        </p:nvGraphicFramePr>
        <p:xfrm>
          <a:off x="3105258" y="713361"/>
          <a:ext cx="2514600" cy="16681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662082164"/>
                    </a:ext>
                  </a:extLst>
                </a:gridCol>
              </a:tblGrid>
              <a:tr h="1447800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900" dirty="0">
                          <a:effectLst/>
                        </a:rPr>
                        <a:t>1. Bjarne Stroustrup, The C++ Programming Language , Addison Wesley.</a:t>
                      </a:r>
                      <a:endParaRPr lang="en-IN" sz="800" dirty="0">
                        <a:effectLst/>
                      </a:endParaRPr>
                    </a:p>
                    <a:p>
                      <a:pPr>
                        <a:lnSpc>
                          <a:spcPct val="92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900" dirty="0">
                          <a:effectLst/>
                        </a:rPr>
                        <a:t>2. Thomas H. </a:t>
                      </a:r>
                      <a:r>
                        <a:rPr lang="en-IN" sz="900" dirty="0" err="1">
                          <a:effectLst/>
                        </a:rPr>
                        <a:t>Cormen</a:t>
                      </a:r>
                      <a:r>
                        <a:rPr lang="en-IN" sz="900" dirty="0">
                          <a:effectLst/>
                        </a:rPr>
                        <a:t>, Charles E. </a:t>
                      </a:r>
                      <a:r>
                        <a:rPr lang="en-IN" sz="900" dirty="0" err="1">
                          <a:effectLst/>
                        </a:rPr>
                        <a:t>Leiserson</a:t>
                      </a:r>
                      <a:r>
                        <a:rPr lang="en-IN" sz="900" dirty="0">
                          <a:effectLst/>
                        </a:rPr>
                        <a:t>, Ronald L. Rivest, Clifford Stein, Introduction to Algorithms , MIT Press.</a:t>
                      </a:r>
                      <a:endParaRPr lang="en-IN" sz="800" dirty="0">
                        <a:effectLst/>
                      </a:endParaRPr>
                    </a:p>
                    <a:p>
                      <a:pPr>
                        <a:lnSpc>
                          <a:spcPct val="92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900" dirty="0">
                          <a:effectLst/>
                        </a:rPr>
                        <a:t>3. </a:t>
                      </a:r>
                      <a:r>
                        <a:rPr lang="en-IN" sz="900" dirty="0" err="1">
                          <a:effectLst/>
                        </a:rPr>
                        <a:t>GeeksforGeeks</a:t>
                      </a:r>
                      <a:r>
                        <a:rPr lang="en-IN" sz="900" dirty="0">
                          <a:effectLst/>
                        </a:rPr>
                        <a:t> – Data Structures and Algorithms , C++ and Graph/DSU </a:t>
                      </a:r>
                      <a:r>
                        <a:rPr lang="en-IN" sz="900" dirty="0" err="1">
                          <a:effectLst/>
                        </a:rPr>
                        <a:t>concepts.a</a:t>
                      </a:r>
                      <a:endParaRPr lang="en-IN" sz="800" dirty="0">
                        <a:effectLst/>
                      </a:endParaRPr>
                    </a:p>
                    <a:p>
                      <a:pPr>
                        <a:lnSpc>
                          <a:spcPct val="92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900" dirty="0">
                          <a:effectLst/>
                        </a:rPr>
                        <a:t>4. </a:t>
                      </a:r>
                      <a:r>
                        <a:rPr lang="en-IN" sz="900" dirty="0" err="1">
                          <a:effectLst/>
                        </a:rPr>
                        <a:t>cppreference</a:t>
                      </a:r>
                      <a:r>
                        <a:rPr lang="en-IN" sz="900" dirty="0">
                          <a:effectLst/>
                        </a:rPr>
                        <a:t> — C++ language and Standard Library reference.</a:t>
                      </a:r>
                      <a:endParaRPr lang="en-IN" sz="800" dirty="0">
                        <a:effectLst/>
                      </a:endParaRPr>
                    </a:p>
                    <a:p>
                      <a:pPr>
                        <a:lnSpc>
                          <a:spcPct val="92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IN" sz="900" dirty="0">
                          <a:effectLst/>
                        </a:rPr>
                        <a:t>5. Materials related to the course lectures and laboratory of the Data Structures and Object-Oriented Programming .</a:t>
                      </a:r>
                      <a:endParaRPr lang="en-IN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9136" marR="29136" marT="26223" marB="26223"/>
                </a:tc>
                <a:extLst>
                  <a:ext uri="{0D108BD9-81ED-4DB2-BD59-A6C34878D82A}">
                    <a16:rowId xmlns:a16="http://schemas.microsoft.com/office/drawing/2014/main" val="3842414932"/>
                  </a:ext>
                </a:extLst>
              </a:tr>
            </a:tbl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D620E12-9439-ECF6-C342-74AC3FEAB736}"/>
              </a:ext>
            </a:extLst>
          </p:cNvPr>
          <p:cNvSpPr/>
          <p:nvPr/>
        </p:nvSpPr>
        <p:spPr>
          <a:xfrm>
            <a:off x="90151" y="422410"/>
            <a:ext cx="2743200" cy="2549823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E385637-9FD6-744B-5268-7294BAADA5C2}"/>
              </a:ext>
            </a:extLst>
          </p:cNvPr>
          <p:cNvSpPr/>
          <p:nvPr/>
        </p:nvSpPr>
        <p:spPr>
          <a:xfrm>
            <a:off x="3035300" y="422410"/>
            <a:ext cx="2640349" cy="2109079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</TotalTime>
  <Words>938</Words>
  <Application>Microsoft Office PowerPoint</Application>
  <PresentationFormat>Custom</PresentationFormat>
  <Paragraphs>174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MT</vt:lpstr>
      <vt:lpstr>Calibri</vt:lpstr>
      <vt:lpstr>Lucida Sans Unicode</vt:lpstr>
      <vt:lpstr>Tahoma</vt:lpstr>
      <vt:lpstr>Times New Roman</vt:lpstr>
      <vt:lpstr>Trebuchet MS</vt:lpstr>
      <vt:lpstr>Office Theme</vt:lpstr>
      <vt:lpstr>PROJECT-BASED LEARNING</vt:lpstr>
      <vt:lpstr>Team &amp; Mentor Details</vt:lpstr>
      <vt:lpstr>Problem Statement &amp; Motivation</vt:lpstr>
      <vt:lpstr>Objectives</vt:lpstr>
      <vt:lpstr>Proposed Solution</vt:lpstr>
      <vt:lpstr>Integration of PBL Course Concepts</vt:lpstr>
      <vt:lpstr>System Architecture / Workflow</vt:lpstr>
      <vt:lpstr>Technology Stack &amp; Methodology</vt:lpstr>
      <vt:lpstr>Initial Progress &amp; Team Contribution</vt:lpstr>
      <vt:lpstr>Roadmap, Expected Outcomes &amp;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Project-Based Learning [2mm]Phase-I Evaluation</dc:title>
  <dc:creator>Project TitleTeam ID: XXXX</dc:creator>
  <cp:lastModifiedBy>avika51110@outlook.com</cp:lastModifiedBy>
  <cp:revision>8</cp:revision>
  <dcterms:created xsi:type="dcterms:W3CDTF">2026-08-30T18:13:19Z</dcterms:created>
  <dcterms:modified xsi:type="dcterms:W3CDTF">2026-10-13T17:46:50Z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2026-08-29T00:00:00Z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2026-08-30T00:00:00Z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pdfTeX-1.40.29</vt:lpwstr>
  </property>
</Properties>
</file>