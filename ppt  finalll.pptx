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1" autoAdjust="0"/>
    <p:restoredTop sz="94660"/>
  </p:normalViewPr>
  <p:slideViewPr>
    <p:cSldViewPr>
      <p:cViewPr varScale="1">
        <p:scale>
          <a:sx n="99" d="100"/>
          <a:sy n="99" d="100"/>
        </p:scale>
        <p:origin x="86" y="7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1:36:4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24575,'3'8'0,"2"1"-8191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1:36:55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24575,'7'-3'0,"3"-2"-8191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9194" y="988819"/>
            <a:ext cx="2178050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1079" y="1517291"/>
            <a:ext cx="2697479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286" y="131482"/>
            <a:ext cx="431997" cy="4032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441" y="419630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 dirty="0"/>
          </a:p>
        </p:txBody>
      </p:sp>
      <p:sp>
        <p:nvSpPr>
          <p:cNvPr id="5" name="object 5"/>
          <p:cNvSpPr txBox="1"/>
          <p:nvPr/>
        </p:nvSpPr>
        <p:spPr>
          <a:xfrm>
            <a:off x="769540" y="1009613"/>
            <a:ext cx="4551044" cy="13644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lang="en-IN" sz="1600" b="1" dirty="0"/>
              <a:t>Fake Emergency Call Detection &amp; Priority Routing</a:t>
            </a: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1200" b="1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lang="en-IN" sz="1200" b="1" spc="60" dirty="0">
                <a:solidFill>
                  <a:srgbClr val="133768"/>
                </a:solidFill>
                <a:latin typeface="Tahoma"/>
                <a:cs typeface="Tahoma"/>
              </a:rPr>
              <a:t>T010</a:t>
            </a:r>
            <a:endParaRPr sz="1200" b="1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5" y="2460625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Science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&amp;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Engineering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1837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5999" y="1085561"/>
            <a:ext cx="2557973" cy="792430"/>
            <a:chOff x="272030" y="1414538"/>
            <a:chExt cx="2557973" cy="7924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453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2030" y="1448778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6587" y="1232982"/>
            <a:ext cx="651510" cy="51546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85" dirty="0">
                <a:latin typeface="Tahoma"/>
                <a:cs typeface="Tahoma"/>
              </a:rPr>
              <a:t>Semester: </a:t>
            </a:r>
            <a:r>
              <a:rPr sz="1100" b="1" spc="-10" dirty="0">
                <a:latin typeface="Tahoma"/>
                <a:cs typeface="Tahoma"/>
              </a:rPr>
              <a:t> Domain: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288" y="1239574"/>
            <a:ext cx="1667063" cy="5180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b="1" spc="60" dirty="0">
                <a:solidFill>
                  <a:schemeClr val="tx1"/>
                </a:solidFill>
                <a:latin typeface="Tahoma"/>
                <a:cs typeface="Tahoma"/>
              </a:rPr>
              <a:t>T010</a:t>
            </a:r>
            <a:endParaRPr sz="1100" b="1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lang="en-IN" sz="1100" b="1" i="1" spc="-20" dirty="0">
                <a:solidFill>
                  <a:schemeClr val="tx1"/>
                </a:solidFill>
                <a:latin typeface="Tahoma"/>
                <a:cs typeface="Tahoma"/>
              </a:rPr>
              <a:t>3rd SEM</a:t>
            </a:r>
            <a:endParaRPr lang="en-IN" sz="1100" b="1" i="1" spc="-2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lang="en-IN" sz="1100" b="1" i="1" spc="-20" dirty="0">
                <a:solidFill>
                  <a:schemeClr val="tx1"/>
                </a:solidFill>
                <a:latin typeface="Arial"/>
                <a:cs typeface="Arial"/>
              </a:rPr>
              <a:t>DS/CPP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47797" y="979105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9107" y="98913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42328" y="1169092"/>
            <a:ext cx="2520950" cy="726440"/>
            <a:chOff x="2930016" y="1414538"/>
            <a:chExt cx="2520950" cy="726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4538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5880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37351" y="1191308"/>
            <a:ext cx="2431872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35" dirty="0">
                <a:solidFill>
                  <a:schemeClr val="tx1"/>
                </a:solidFill>
                <a:latin typeface="Arial"/>
                <a:cs typeface="Arial"/>
              </a:rPr>
              <a:t>Avika Dixit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15" dirty="0">
                <a:solidFill>
                  <a:schemeClr val="tx1"/>
                </a:solidFill>
                <a:latin typeface="Arial"/>
                <a:cs typeface="Arial"/>
              </a:rPr>
              <a:t>2028404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Harshit Bisht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2029056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Saksham Mittal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2028833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Nitin Singh Bhandari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2028787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6000" y="2296343"/>
            <a:ext cx="5262818" cy="158699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9522" y="2285044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0321" y="2574461"/>
            <a:ext cx="5262818" cy="252729"/>
            <a:chOff x="309193" y="2552585"/>
            <a:chExt cx="5142230" cy="25272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5999" y="2574834"/>
            <a:ext cx="374862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solidFill>
                  <a:schemeClr val="tx1"/>
                </a:solidFill>
                <a:latin typeface="Arial"/>
                <a:cs typeface="Arial"/>
              </a:rPr>
              <a:t>Ms.</a:t>
            </a:r>
            <a:r>
              <a:rPr sz="1100" b="1" i="1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b="1" i="1" spc="-10" dirty="0">
                <a:solidFill>
                  <a:schemeClr val="tx1"/>
                </a:solidFill>
                <a:latin typeface="Arial"/>
                <a:cs typeface="Arial"/>
              </a:rPr>
              <a:t>Priyanka Rastogi, Assistant Professor, CSE Dept 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2/10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0899" y="2605939"/>
            <a:ext cx="188490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8825" algn="l"/>
              </a:tabLst>
            </a:pPr>
            <a:r>
              <a:rPr sz="1000" b="1" spc="-75" dirty="0">
                <a:latin typeface="Tahoma"/>
                <a:cs typeface="Tahoma"/>
              </a:rPr>
              <a:t>Interactions</a:t>
            </a:r>
            <a:r>
              <a:rPr sz="1000" b="1" dirty="0">
                <a:latin typeface="Tahoma"/>
                <a:cs typeface="Tahoma"/>
              </a:rPr>
              <a:t> completed</a:t>
            </a:r>
            <a:r>
              <a:rPr sz="1100" b="1" dirty="0">
                <a:latin typeface="Tahoma"/>
                <a:cs typeface="Tahoma"/>
              </a:rPr>
              <a:t>:</a:t>
            </a:r>
            <a:r>
              <a:rPr lang="en-IN" sz="1100" b="1" dirty="0">
                <a:latin typeface="Tahoma"/>
                <a:cs typeface="Tahoma"/>
              </a:rPr>
              <a:t> 3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8309" y="89776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0" dirty="0"/>
              <a:t> </a:t>
            </a:r>
            <a:r>
              <a:rPr spc="-35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288309" y="238233"/>
            <a:ext cx="5039995" cy="103067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3949" y="474339"/>
            <a:ext cx="5346631" cy="945143"/>
            <a:chOff x="309193" y="120595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120595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0000"/>
                </a:highlight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8111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425395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0000"/>
                </a:highlight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8309" y="474339"/>
            <a:ext cx="5308512" cy="104009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400" b="1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400" b="1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lang="en-IN" sz="1400" b="1" spc="-10" dirty="0">
              <a:solidFill>
                <a:srgbClr val="133768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IN" sz="1200" spc="-10" dirty="0">
                <a:solidFill>
                  <a:schemeClr val="tx1"/>
                </a:solidFill>
                <a:latin typeface="Arial MT"/>
                <a:cs typeface="Arial MT"/>
              </a:rPr>
              <a:t>Emergency Services may receive multiple duplicate, incomplete or conflicting reports about the same incidents, causing confusion and unnecessary delay in handling crisis emergencies.</a:t>
            </a:r>
            <a:endParaRPr sz="12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5299" y="3133522"/>
            <a:ext cx="3978879" cy="9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8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/10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6EE1793E-2305-6442-2A12-DF0DC2A37F99}"/>
              </a:ext>
            </a:extLst>
          </p:cNvPr>
          <p:cNvSpPr txBox="1"/>
          <p:nvPr/>
        </p:nvSpPr>
        <p:spPr>
          <a:xfrm>
            <a:off x="3023297" y="1525033"/>
            <a:ext cx="2629134" cy="13638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sz="12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sz="12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sz="12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lang="en-IN" sz="1200" b="1" spc="-6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Primary: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Emergency operators and Dispatchers.</a:t>
            </a: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Secondary: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Police, Fire, Medical Rescue Team.</a:t>
            </a: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Benefit: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Faster Incident Identification, Better Prioritization, Better response team dispatch</a:t>
            </a:r>
            <a:endParaRPr lang="en-IN" sz="1050" b="1" spc="-60" dirty="0">
              <a:solidFill>
                <a:srgbClr val="133768"/>
              </a:solidFill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270CA3-87A9-8FBF-A2A2-2C1357B7C8C5}"/>
                  </a:ext>
                </a:extLst>
              </p14:cNvPr>
              <p14:cNvContentPartPr/>
              <p14:nvPr/>
            </p14:nvContentPartPr>
            <p14:xfrm>
              <a:off x="3001980" y="-838320"/>
              <a:ext cx="3240" cy="6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270CA3-87A9-8FBF-A2A2-2C1357B7C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5860" y="-844440"/>
                <a:ext cx="15480" cy="18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BB1C6A-30AA-B0C3-AEF3-2DEDEC5E8882}"/>
              </a:ext>
            </a:extLst>
          </p:cNvPr>
          <p:cNvSpPr/>
          <p:nvPr/>
        </p:nvSpPr>
        <p:spPr>
          <a:xfrm>
            <a:off x="140335" y="1486572"/>
            <a:ext cx="2732687" cy="155156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US" sz="1200" b="1" spc="-10" dirty="0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Duplicate Reports can overload emergency operators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Critical Incidents needs to identified quickly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Pranks call should be identified.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Existing focus on </a:t>
            </a:r>
            <a:r>
              <a:rPr lang="en-US" sz="1050" spc="-10" dirty="0" err="1">
                <a:solidFill>
                  <a:srgbClr val="133768"/>
                </a:solidFill>
                <a:latin typeface="Tahoma"/>
                <a:cs typeface="Tahoma"/>
              </a:rPr>
              <a:t>receving</a:t>
            </a: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 and dispatching the call not prioritize it.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C299C8-2086-AABA-7A51-1D29CB5AEF00}"/>
              </a:ext>
            </a:extLst>
          </p:cNvPr>
          <p:cNvSpPr/>
          <p:nvPr/>
        </p:nvSpPr>
        <p:spPr>
          <a:xfrm>
            <a:off x="2958490" y="1419049"/>
            <a:ext cx="2732687" cy="158756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endParaRPr lang="en-US" sz="1200" b="1" spc="-10" dirty="0">
              <a:solidFill>
                <a:srgbClr val="13376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40953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62902" y="44401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2389" y="552181"/>
            <a:ext cx="5090508" cy="17171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Implement an incoming report ingestion system using FIFO Queues.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Build a Call Analyser to detect low-information or fake calls.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Construct report graphs and group related reports via Disjoint Set Union (DSU).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US" sz="1200" dirty="0" err="1"/>
              <a:t>Prioritise</a:t>
            </a:r>
            <a:r>
              <a:rPr lang="en-US" sz="1200" dirty="0"/>
              <a:t> incidents dynamically using Priority Queues for fast dispatch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Integrate advanced Data Structures with Object-Oriented Design. </a:t>
            </a:r>
            <a:endParaRPr lang="en-IN" sz="12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+mj-lt"/>
              <a:buAutoNum type="arabicPeriod"/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800" y="2322059"/>
            <a:ext cx="5410199" cy="33342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75"/>
              </a:lnSpc>
            </a:pPr>
            <a:r>
              <a:rPr sz="1200" b="1" dirty="0">
                <a:latin typeface="Tahoma"/>
                <a:cs typeface="Tahoma"/>
              </a:rPr>
              <a:t>Key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Objective</a:t>
            </a:r>
            <a:r>
              <a:rPr sz="1200" b="1" spc="-6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r>
              <a:rPr sz="1200" b="1" spc="6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IN" sz="1200" b="1" i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b="1" spc="-20" dirty="0">
                <a:solidFill>
                  <a:schemeClr val="tx1"/>
                </a:solidFill>
                <a:latin typeface="Arial"/>
                <a:cs typeface="Arial"/>
              </a:rPr>
              <a:t>To group related emergency reports </a:t>
            </a:r>
            <a:r>
              <a:rPr lang="en-IN" sz="1100" b="1" spc="-20" dirty="0" err="1">
                <a:solidFill>
                  <a:schemeClr val="tx1"/>
                </a:solidFill>
                <a:latin typeface="Arial"/>
                <a:cs typeface="Arial"/>
              </a:rPr>
              <a:t>iinto</a:t>
            </a:r>
            <a:r>
              <a:rPr lang="en-IN" sz="1100" b="1" spc="-20" dirty="0">
                <a:solidFill>
                  <a:schemeClr val="tx1"/>
                </a:solidFill>
                <a:latin typeface="Arial"/>
                <a:cs typeface="Arial"/>
              </a:rPr>
              <a:t> one incident and give priority to important incidents for faster response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18AD82-452E-540B-7FCB-C48C7D572A3D}"/>
                  </a:ext>
                </a:extLst>
              </p14:cNvPr>
              <p14:cNvContentPartPr/>
              <p14:nvPr/>
            </p14:nvContentPartPr>
            <p14:xfrm>
              <a:off x="2049780" y="1627320"/>
              <a:ext cx="6480" cy="3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18AD82-452E-540B-7FCB-C48C7D572A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3300" y="1621200"/>
                <a:ext cx="18720" cy="1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68868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Proposed</a:t>
            </a:r>
            <a:r>
              <a:rPr spc="-5" dirty="0"/>
              <a:t> </a:t>
            </a:r>
            <a:r>
              <a:rPr spc="-55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47294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400" y="685470"/>
            <a:ext cx="2667000" cy="166648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b="1" spc="-55" dirty="0">
                <a:solidFill>
                  <a:srgbClr val="133768"/>
                </a:solidFill>
                <a:latin typeface="Tahoma"/>
                <a:cs typeface="Tahoma"/>
              </a:rPr>
              <a:t>      </a:t>
            </a:r>
            <a:r>
              <a:rPr sz="1100" b="1" spc="-55" dirty="0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sz="11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Queue Manager: </a:t>
            </a:r>
            <a:r>
              <a:rPr lang="en-IN" sz="1100" dirty="0"/>
              <a:t>FIFO order storage.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Call Analyzer: </a:t>
            </a:r>
            <a:r>
              <a:rPr lang="en-IN" sz="1100" dirty="0"/>
              <a:t>Computes similarity /quality.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Relationship Builder: </a:t>
            </a:r>
            <a:r>
              <a:rPr lang="en-IN" sz="1100" dirty="0"/>
              <a:t>Hash Maps and   Graphs.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Incident Manager: </a:t>
            </a:r>
            <a:r>
              <a:rPr lang="en-IN" sz="1100" dirty="0"/>
              <a:t>DSU clustering.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Dispatcher: </a:t>
            </a:r>
            <a:r>
              <a:rPr lang="en-IN" sz="1100" dirty="0"/>
              <a:t>High-priority routing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28264" y="708025"/>
            <a:ext cx="2680338" cy="13279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sz="1100" b="1" spc="-5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lang="en-IN" sz="1100" b="1" spc="-45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Automated Fake Call Detection.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Fast O(1) Hash Map Lookups.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Dynamic DSU Incident Grouping. 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Priority-based Dispatching.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Feedback Learning Loop.</a:t>
            </a:r>
            <a:endParaRPr sz="1100" b="1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648" y="2557995"/>
            <a:ext cx="513415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000" b="1" dirty="0">
                <a:latin typeface="Arial MT"/>
                <a:cs typeface="Arial MT"/>
              </a:rPr>
              <a:t>The System will group related emergency reports, identify important incidents, prank call and prioritise then for faster team allocation at right place </a:t>
            </a:r>
            <a:endParaRPr sz="1000" b="1" dirty="0">
              <a:latin typeface="Arial MT"/>
              <a:cs typeface="Arial M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D33B37-D899-CE4D-8BB1-67FCC1FD6F61}"/>
              </a:ext>
            </a:extLst>
          </p:cNvPr>
          <p:cNvSpPr/>
          <p:nvPr/>
        </p:nvSpPr>
        <p:spPr>
          <a:xfrm>
            <a:off x="95300" y="708025"/>
            <a:ext cx="2743200" cy="1722443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83CED1-9E3F-93DD-8DFA-A24059FB4929}"/>
              </a:ext>
            </a:extLst>
          </p:cNvPr>
          <p:cNvSpPr/>
          <p:nvPr/>
        </p:nvSpPr>
        <p:spPr>
          <a:xfrm>
            <a:off x="2965402" y="682635"/>
            <a:ext cx="2743200" cy="1722443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204913"/>
            <a:ext cx="30714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Integration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60" dirty="0"/>
              <a:t>PBL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5" dirty="0"/>
              <a:t> </a:t>
            </a:r>
            <a:r>
              <a:rPr spc="-35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556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240773"/>
              </p:ext>
            </p:extLst>
          </p:nvPr>
        </p:nvGraphicFramePr>
        <p:xfrm>
          <a:off x="194243" y="953312"/>
          <a:ext cx="5371496" cy="1631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4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Course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Applied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8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Module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800" b="1" spc="-1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9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Structures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C</a:t>
                      </a:r>
                      <a:endParaRPr sz="900" dirty="0">
                        <a:latin typeface="Tahoma"/>
                        <a:cs typeface="Tahoma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9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lang="en-IN" sz="1000" b="1" i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Queue,Hashing,Graph,DSU,Priority</a:t>
                      </a:r>
                      <a:r>
                        <a:rPr lang="en-IN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Queue</a:t>
                      </a:r>
                      <a:endParaRPr sz="900" b="1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1000" b="0" i="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Report processing ,</a:t>
                      </a:r>
                      <a:r>
                        <a:rPr lang="en-IN" sz="1100" b="0" i="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grouping , and Prioritisation</a:t>
                      </a:r>
                      <a:endParaRPr lang="en-IN" sz="1000" b="0" i="0" spc="-5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   </a:t>
                      </a:r>
                      <a:r>
                        <a:rPr lang="en-IN" sz="900" b="1" dirty="0">
                          <a:latin typeface="Tahoma"/>
                          <a:cs typeface="Tahoma"/>
                        </a:rPr>
                        <a:t>OOPs</a:t>
                      </a:r>
                      <a:r>
                        <a:rPr lang="en-IN" sz="9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en-IN" sz="900" b="1" spc="-55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lang="en-IN" sz="900" b="1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en-IN" sz="900" b="1" spc="-25" dirty="0">
                          <a:latin typeface="Tahoma"/>
                          <a:cs typeface="Tahoma"/>
                        </a:rPr>
                        <a:t>C++</a:t>
                      </a:r>
                      <a:endParaRPr lang="en-IN" sz="9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lang="en-IN" sz="800" i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 </a:t>
                      </a:r>
                    </a:p>
                    <a:p>
                      <a:pPr marL="130810">
                        <a:lnSpc>
                          <a:spcPct val="100000"/>
                        </a:lnSpc>
                      </a:pPr>
                      <a:endParaRPr lang="en-IN" sz="900" i="1" spc="-40" dirty="0">
                        <a:solidFill>
                          <a:srgbClr val="595959"/>
                        </a:solidFill>
                        <a:latin typeface="Arial"/>
                        <a:cs typeface="Arial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lang="fr-FR" sz="1000" b="1" i="0" spc="-4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Classes,</a:t>
                      </a:r>
                      <a:r>
                        <a:rPr lang="fr-FR" sz="1000" b="1" i="0" spc="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spc="-1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lang="fr-FR" sz="1000" b="1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lang="fr-FR" sz="1000" b="1" i="0" spc="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spc="-1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Polymorphism</a:t>
                      </a:r>
                      <a:r>
                        <a:rPr lang="fr-FR" sz="1000" b="1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lang="fr-FR" sz="1000" b="1" i="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STL</a:t>
                      </a:r>
                      <a:r>
                        <a:rPr lang="fr-FR" sz="1000" b="1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lang="fr-FR" sz="1000" b="1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endParaRPr lang="en-IN" sz="800" b="0" i="1" dirty="0">
                        <a:solidFill>
                          <a:srgbClr val="595959"/>
                        </a:solidFill>
                        <a:latin typeface="Arial"/>
                        <a:cs typeface="Arial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lang="en-IN" sz="105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Call, Incident,  </a:t>
                      </a:r>
                      <a:r>
                        <a:rPr lang="en-IN" sz="1050" b="0" i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Disatcher</a:t>
                      </a:r>
                      <a:r>
                        <a:rPr lang="en-IN" sz="105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and Response Team Module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94243" y="3145989"/>
            <a:ext cx="4254356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126289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System</a:t>
            </a:r>
            <a:r>
              <a:rPr spc="25" dirty="0"/>
              <a:t> </a:t>
            </a:r>
            <a:r>
              <a:rPr spc="-50" dirty="0"/>
              <a:t>Architecture</a:t>
            </a:r>
            <a:r>
              <a:rPr spc="30" dirty="0"/>
              <a:t> </a:t>
            </a:r>
            <a:r>
              <a:rPr dirty="0"/>
              <a:t>/</a:t>
            </a:r>
            <a:r>
              <a:rPr spc="30" dirty="0"/>
              <a:t> </a:t>
            </a:r>
            <a:r>
              <a:rPr spc="-7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2160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87177" y="1662893"/>
            <a:ext cx="2290780" cy="8226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sz="1100" b="1" spc="-2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Emergency Call Management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45" dirty="0">
                <a:solidFill>
                  <a:schemeClr val="tx1"/>
                </a:solidFill>
                <a:latin typeface="Arial"/>
                <a:cs typeface="Arial"/>
              </a:rPr>
              <a:t>Call Analysis &amp; Incident Grouping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45" dirty="0">
                <a:solidFill>
                  <a:schemeClr val="tx1"/>
                </a:solidFill>
                <a:latin typeface="Arial"/>
                <a:cs typeface="Arial"/>
              </a:rPr>
              <a:t>Priority &amp; Response Managing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439325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882900" y="1535810"/>
            <a:ext cx="2582530" cy="15638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lang="en-IN" sz="1100" b="1" spc="-2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dirty="0">
                <a:latin typeface="Arial"/>
                <a:cs typeface="Arial"/>
              </a:rPr>
              <a:t>Reports are analysis , grouped, </a:t>
            </a:r>
            <a:r>
              <a:rPr lang="en-US" sz="1100" dirty="0" err="1">
                <a:latin typeface="Arial"/>
                <a:cs typeface="Arial"/>
              </a:rPr>
              <a:t>prioritised</a:t>
            </a:r>
            <a:r>
              <a:rPr lang="en-US" sz="1100" dirty="0">
                <a:latin typeface="Arial"/>
                <a:cs typeface="Arial"/>
              </a:rPr>
              <a:t> and then responded.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dirty="0">
                <a:latin typeface="Arial"/>
                <a:cs typeface="Arial"/>
              </a:rPr>
              <a:t>Each module process data and passes it to next.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b="1" dirty="0">
                <a:latin typeface="Arial"/>
                <a:cs typeface="Arial"/>
              </a:rPr>
              <a:t>Output</a:t>
            </a:r>
            <a:r>
              <a:rPr lang="en-US" sz="1100" dirty="0">
                <a:latin typeface="Arial"/>
                <a:cs typeface="Arial"/>
              </a:rPr>
              <a:t>: Grouped </a:t>
            </a:r>
            <a:r>
              <a:rPr lang="en-US" sz="1100" dirty="0" err="1">
                <a:latin typeface="Arial"/>
                <a:cs typeface="Arial"/>
              </a:rPr>
              <a:t>incidents,priority</a:t>
            </a:r>
            <a:r>
              <a:rPr lang="en-US" sz="1100" dirty="0">
                <a:latin typeface="Arial"/>
                <a:cs typeface="Arial"/>
              </a:rPr>
              <a:t>, and response team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endParaRPr lang="en-US" sz="1100" dirty="0">
              <a:latin typeface="Arial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AA8041-A77C-F755-531F-0169A3C0124B}"/>
              </a:ext>
            </a:extLst>
          </p:cNvPr>
          <p:cNvSpPr/>
          <p:nvPr/>
        </p:nvSpPr>
        <p:spPr>
          <a:xfrm>
            <a:off x="172110" y="1539097"/>
            <a:ext cx="2402967" cy="138028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C502CF-E60A-4918-5DB5-BEAAA738AEF3}"/>
              </a:ext>
            </a:extLst>
          </p:cNvPr>
          <p:cNvSpPr/>
          <p:nvPr/>
        </p:nvSpPr>
        <p:spPr>
          <a:xfrm>
            <a:off x="2882900" y="1525079"/>
            <a:ext cx="2695723" cy="139429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" name="object 4"/>
          <p:cNvGrpSpPr/>
          <p:nvPr/>
        </p:nvGrpSpPr>
        <p:grpSpPr>
          <a:xfrm>
            <a:off x="252958" y="668035"/>
            <a:ext cx="977947" cy="515490"/>
            <a:chOff x="428336" y="1228708"/>
            <a:chExt cx="779145" cy="368935"/>
          </a:xfrm>
        </p:grpSpPr>
        <p:sp>
          <p:nvSpPr>
            <p:cNvPr id="36" name="object 5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6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7"/>
          <p:cNvSpPr txBox="1"/>
          <p:nvPr/>
        </p:nvSpPr>
        <p:spPr>
          <a:xfrm>
            <a:off x="321487" y="694538"/>
            <a:ext cx="82969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lang="en-IN" sz="1000" spc="-10" dirty="0">
                <a:latin typeface="Tahoma"/>
                <a:cs typeface="Tahoma"/>
              </a:rPr>
              <a:t>Emergency                                                                  … Reports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43" name="object 8"/>
          <p:cNvGrpSpPr/>
          <p:nvPr/>
        </p:nvGrpSpPr>
        <p:grpSpPr>
          <a:xfrm>
            <a:off x="1416962" y="670498"/>
            <a:ext cx="774064" cy="499496"/>
            <a:chOff x="1459407" y="1232222"/>
            <a:chExt cx="779145" cy="361950"/>
          </a:xfrm>
        </p:grpSpPr>
        <p:sp>
          <p:nvSpPr>
            <p:cNvPr id="44" name="object 9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0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11"/>
          <p:cNvSpPr txBox="1"/>
          <p:nvPr/>
        </p:nvSpPr>
        <p:spPr>
          <a:xfrm>
            <a:off x="1486550" y="656602"/>
            <a:ext cx="636997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Call Analyse</a:t>
            </a:r>
          </a:p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&amp; Similarity</a:t>
            </a:r>
          </a:p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Detection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47" name="object 12"/>
          <p:cNvGrpSpPr/>
          <p:nvPr/>
        </p:nvGrpSpPr>
        <p:grpSpPr>
          <a:xfrm>
            <a:off x="2453203" y="684291"/>
            <a:ext cx="799562" cy="530772"/>
            <a:chOff x="2490479" y="1232222"/>
            <a:chExt cx="779145" cy="361950"/>
          </a:xfrm>
        </p:grpSpPr>
        <p:sp>
          <p:nvSpPr>
            <p:cNvPr id="48" name="object 13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4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15"/>
          <p:cNvSpPr txBox="1"/>
          <p:nvPr/>
        </p:nvSpPr>
        <p:spPr>
          <a:xfrm>
            <a:off x="2493183" y="677237"/>
            <a:ext cx="77027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95"/>
              </a:spcBef>
            </a:pPr>
            <a:r>
              <a:rPr lang="en-IN" sz="1000" spc="-20" dirty="0">
                <a:latin typeface="Tahoma"/>
                <a:cs typeface="Tahoma"/>
              </a:rPr>
              <a:t>Incident Grouping 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51" name="object 16"/>
          <p:cNvGrpSpPr/>
          <p:nvPr/>
        </p:nvGrpSpPr>
        <p:grpSpPr>
          <a:xfrm>
            <a:off x="3553296" y="694538"/>
            <a:ext cx="935254" cy="539394"/>
            <a:chOff x="3524091" y="1234762"/>
            <a:chExt cx="774065" cy="356870"/>
          </a:xfrm>
        </p:grpSpPr>
        <p:sp>
          <p:nvSpPr>
            <p:cNvPr id="52" name="object 17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8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19"/>
          <p:cNvSpPr txBox="1"/>
          <p:nvPr/>
        </p:nvSpPr>
        <p:spPr>
          <a:xfrm>
            <a:off x="3650575" y="669779"/>
            <a:ext cx="769491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95"/>
              </a:spcBef>
            </a:pPr>
            <a:r>
              <a:rPr lang="en-IN" sz="1000" spc="-45" dirty="0">
                <a:latin typeface="Tahoma"/>
                <a:cs typeface="Tahoma"/>
              </a:rPr>
              <a:t>C++  Data Structure/ File Storage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55" name="object 20"/>
          <p:cNvGrpSpPr/>
          <p:nvPr/>
        </p:nvGrpSpPr>
        <p:grpSpPr>
          <a:xfrm>
            <a:off x="4703940" y="628695"/>
            <a:ext cx="774065" cy="539394"/>
            <a:chOff x="4555163" y="1247064"/>
            <a:chExt cx="774065" cy="332105"/>
          </a:xfrm>
        </p:grpSpPr>
        <p:sp>
          <p:nvSpPr>
            <p:cNvPr id="56" name="object 21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22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23"/>
          <p:cNvSpPr txBox="1"/>
          <p:nvPr/>
        </p:nvSpPr>
        <p:spPr>
          <a:xfrm>
            <a:off x="4777187" y="695867"/>
            <a:ext cx="705535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" marR="5080" indent="-26670">
              <a:lnSpc>
                <a:spcPct val="100000"/>
              </a:lnSpc>
              <a:spcBef>
                <a:spcPts val="95"/>
              </a:spcBef>
            </a:pPr>
            <a:r>
              <a:rPr lang="en-IN" sz="1000" spc="-25" dirty="0">
                <a:latin typeface="Tahoma"/>
                <a:cs typeface="Tahoma"/>
              </a:rPr>
              <a:t>Prioritized Incidents &amp; Response 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DAE080D-F435-65F6-B4EF-486AC0DF9DD9}"/>
              </a:ext>
            </a:extLst>
          </p:cNvPr>
          <p:cNvSpPr/>
          <p:nvPr/>
        </p:nvSpPr>
        <p:spPr>
          <a:xfrm>
            <a:off x="1248241" y="898602"/>
            <a:ext cx="200603" cy="185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7CD42A48-B781-E5D6-01B4-E3E1F0A6701E}"/>
              </a:ext>
            </a:extLst>
          </p:cNvPr>
          <p:cNvSpPr/>
          <p:nvPr/>
        </p:nvSpPr>
        <p:spPr>
          <a:xfrm>
            <a:off x="2208063" y="911673"/>
            <a:ext cx="245140" cy="185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8147BC13-97D5-FF43-2379-2A96CE4B36DA}"/>
              </a:ext>
            </a:extLst>
          </p:cNvPr>
          <p:cNvSpPr/>
          <p:nvPr/>
        </p:nvSpPr>
        <p:spPr>
          <a:xfrm>
            <a:off x="3271062" y="906350"/>
            <a:ext cx="268984" cy="1772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DF5B609D-6269-300B-6135-2D277152A2E9}"/>
              </a:ext>
            </a:extLst>
          </p:cNvPr>
          <p:cNvSpPr/>
          <p:nvPr/>
        </p:nvSpPr>
        <p:spPr>
          <a:xfrm>
            <a:off x="4501800" y="890781"/>
            <a:ext cx="192505" cy="1928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845" y="129787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Technology</a:t>
            </a:r>
            <a:r>
              <a:rPr spc="20" dirty="0"/>
              <a:t> </a:t>
            </a:r>
            <a:r>
              <a:rPr spc="-10" dirty="0"/>
              <a:t>Stack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5" dirty="0"/>
              <a:t> </a:t>
            </a:r>
            <a:r>
              <a:rPr spc="-45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292100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146" y="569204"/>
            <a:ext cx="2455409" cy="251791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0146" y="589263"/>
            <a:ext cx="237167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200" b="1" spc="-65" dirty="0">
                <a:solidFill>
                  <a:srgbClr val="133768"/>
                </a:solidFill>
                <a:latin typeface="Arial MT"/>
                <a:cs typeface="Arial MT"/>
              </a:rPr>
              <a:t>Technology </a:t>
            </a:r>
            <a:r>
              <a:rPr sz="1200" b="1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 b="1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0146" y="784619"/>
            <a:ext cx="2455545" cy="1212511"/>
            <a:chOff x="309193" y="1390294"/>
            <a:chExt cx="2520950" cy="104266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90294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34558"/>
              <a:ext cx="2520950" cy="998219"/>
            </a:xfrm>
            <a:custGeom>
              <a:avLst/>
              <a:gdLst/>
              <a:ahLst/>
              <a:cxnLst/>
              <a:rect l="l" t="t" r="r" b="b"/>
              <a:pathLst>
                <a:path w="2520950" h="998219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8328" y="812283"/>
            <a:ext cx="2559051" cy="81240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lang="en-US" sz="1100" spc="-35" dirty="0">
                <a:latin typeface="Tahoma"/>
                <a:cs typeface="Tahoma"/>
              </a:rPr>
              <a:t>Language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lang="en-IN" sz="1100" spc="100" dirty="0">
                <a:solidFill>
                  <a:schemeClr val="tx1"/>
                </a:solidFill>
                <a:latin typeface="Arial"/>
                <a:cs typeface="Arial"/>
              </a:rPr>
              <a:t>C++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Database:</a:t>
            </a:r>
            <a:r>
              <a:rPr lang="en-IN" sz="1100" spc="50" dirty="0">
                <a:latin typeface="Tahoma"/>
                <a:cs typeface="Tahoma"/>
              </a:rPr>
              <a:t> File-based storage </a:t>
            </a:r>
            <a:endParaRPr lang="en-IN"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IDE: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lang="en-IN" sz="1100" spc="-20" dirty="0">
                <a:solidFill>
                  <a:schemeClr val="tx1"/>
                </a:solidFill>
                <a:latin typeface="Arial"/>
                <a:cs typeface="Arial"/>
              </a:rPr>
              <a:t>VS Code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Version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chemeClr val="tx1"/>
                </a:solidFill>
                <a:latin typeface="Arial"/>
                <a:cs typeface="Arial"/>
              </a:rPr>
              <a:t>Git</a:t>
            </a:r>
            <a:r>
              <a:rPr sz="11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spc="240" dirty="0">
                <a:solidFill>
                  <a:schemeClr val="tx1"/>
                </a:solidFill>
                <a:latin typeface="Arial"/>
                <a:cs typeface="Arial"/>
              </a:rPr>
              <a:t>&amp;</a:t>
            </a:r>
            <a:r>
              <a:rPr sz="1100" spc="-10" dirty="0">
                <a:solidFill>
                  <a:schemeClr val="tx1"/>
                </a:solidFill>
                <a:latin typeface="Arial"/>
                <a:cs typeface="Arial"/>
              </a:rPr>
              <a:t>GitHub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81824" y="563689"/>
            <a:ext cx="2734962" cy="257306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07870" y="607723"/>
            <a:ext cx="2455409" cy="20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b="1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b="1" spc="-45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 b="1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8689" y="796511"/>
            <a:ext cx="2735115" cy="1233605"/>
            <a:chOff x="2930016" y="1390294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90294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434563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80457" y="785279"/>
            <a:ext cx="2697015" cy="121251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Identify the problem and define system requirement.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System Architecture and workflow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Develop core module/classes using C++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 Test the system with different situations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Analyze the output and overall performance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4159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397" y="2253473"/>
            <a:ext cx="5126405" cy="620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dirty="0">
                <a:latin typeface="Arial MT"/>
                <a:cs typeface="Arial MT"/>
              </a:rPr>
              <a:t>Justification: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  <a:cs typeface="Arial MT"/>
              </a:rPr>
              <a:t>C++ provide direct implementation of DSA,STL and OOPS concepts. 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 err="1">
                <a:latin typeface="Arial MT"/>
                <a:cs typeface="Arial MT"/>
              </a:rPr>
              <a:t>Github</a:t>
            </a:r>
            <a:r>
              <a:rPr lang="en-US" sz="900" dirty="0">
                <a:latin typeface="Arial MT"/>
                <a:cs typeface="Arial MT"/>
              </a:rPr>
              <a:t> provide a setup for development and collaboration.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  <a:cs typeface="Arial MT"/>
              </a:rPr>
              <a:t>The Methodology ensue development and testing evaluations </a:t>
            </a:r>
            <a:endParaRPr lang="en-IN" sz="900" dirty="0">
              <a:latin typeface="Arial MT"/>
              <a:cs typeface="Arial M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906E6B-3DCD-36B1-DF70-1B823D9B5DB3}"/>
              </a:ext>
            </a:extLst>
          </p:cNvPr>
          <p:cNvSpPr/>
          <p:nvPr/>
        </p:nvSpPr>
        <p:spPr>
          <a:xfrm>
            <a:off x="188328" y="2253473"/>
            <a:ext cx="5126405" cy="722631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469" y="163705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Initial</a:t>
            </a:r>
            <a:r>
              <a:rPr spc="5" dirty="0"/>
              <a:t> </a:t>
            </a:r>
            <a:r>
              <a:rPr spc="-60" dirty="0"/>
              <a:t>Progress</a:t>
            </a:r>
            <a:r>
              <a:rPr spc="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25" dirty="0"/>
              <a:t>Team</a:t>
            </a:r>
            <a:r>
              <a:rPr spc="5" dirty="0"/>
              <a:t> </a:t>
            </a:r>
            <a:r>
              <a:rPr spc="-5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38469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734" y="719342"/>
            <a:ext cx="2470565" cy="177163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70" dirty="0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sz="1100" b="1" spc="5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To identify duplicate and related emergency reports.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Studied existing systems and their limitation.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Identified how required system will function.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Prepared system Architecture.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 Designed the workflow of the system</a:t>
            </a:r>
            <a:endParaRPr lang="en-US"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12575" y="674016"/>
            <a:ext cx="2646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33345" algn="l"/>
              </a:tabLst>
            </a:pPr>
            <a:r>
              <a:rPr sz="1100" b="1" u="sng" spc="-8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sz="1100" b="1" u="sng" spc="1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sz="11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38108"/>
              </p:ext>
            </p:extLst>
          </p:nvPr>
        </p:nvGraphicFramePr>
        <p:xfrm>
          <a:off x="2925910" y="960626"/>
          <a:ext cx="2620010" cy="183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64">
                <a:tc>
                  <a:txBody>
                    <a:bodyPr/>
                    <a:lstStyle/>
                    <a:p>
                      <a:pPr>
                        <a:lnSpc>
                          <a:spcPts val="765"/>
                        </a:lnSpc>
                      </a:pPr>
                      <a:r>
                        <a:rPr sz="800" b="1" spc="-10" dirty="0">
                          <a:latin typeface="Arial MT"/>
                          <a:cs typeface="Arial MT"/>
                        </a:rPr>
                        <a:t>Member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765"/>
                        </a:lnSpc>
                      </a:pPr>
                      <a:r>
                        <a:rPr sz="800" b="1" spc="-20" dirty="0">
                          <a:latin typeface="Arial MT"/>
                          <a:cs typeface="Arial MT"/>
                        </a:rPr>
                        <a:t>Role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765"/>
                        </a:lnSpc>
                      </a:pPr>
                      <a:r>
                        <a:rPr sz="800" b="1" spc="-10" dirty="0">
                          <a:latin typeface="Arial MT"/>
                          <a:cs typeface="Arial MT"/>
                        </a:rPr>
                        <a:t>Contribution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Avika Dixit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Queue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258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Saksham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DSU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sz="900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Analyzer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78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Nitin Bhandari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Graph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lang="en-IN" sz="90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Hash Map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24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Harshita 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Docs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lang="en-IN" sz="900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Priority Queue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88C6CD-1B2B-BB57-F7FE-6720F3D7DCD1}"/>
              </a:ext>
            </a:extLst>
          </p:cNvPr>
          <p:cNvSpPr/>
          <p:nvPr/>
        </p:nvSpPr>
        <p:spPr>
          <a:xfrm>
            <a:off x="2806700" y="550671"/>
            <a:ext cx="2858431" cy="234347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DC2A0D-D3A0-4B53-0DC4-E5F2CDAB1EDE}"/>
              </a:ext>
            </a:extLst>
          </p:cNvPr>
          <p:cNvSpPr/>
          <p:nvPr/>
        </p:nvSpPr>
        <p:spPr>
          <a:xfrm>
            <a:off x="95300" y="550672"/>
            <a:ext cx="2592189" cy="2343473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120157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Roadmap,</a:t>
            </a:r>
            <a:r>
              <a:rPr spc="10" dirty="0"/>
              <a:t> </a:t>
            </a:r>
            <a:r>
              <a:rPr spc="-40" dirty="0"/>
              <a:t>Expected</a:t>
            </a:r>
            <a:r>
              <a:rPr spc="10" dirty="0"/>
              <a:t> </a:t>
            </a:r>
            <a:r>
              <a:rPr spc="-45" dirty="0"/>
              <a:t>Outcomes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7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97807" y="36463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139700" y="552646"/>
            <a:ext cx="2743200" cy="24641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34"/>
              </a:spcBef>
            </a:pPr>
            <a:r>
              <a:rPr sz="1200" spc="-10" dirty="0"/>
              <a:t>Roadmap</a:t>
            </a:r>
          </a:p>
          <a:p>
            <a:pPr marL="3282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6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>
                <a:solidFill>
                  <a:srgbClr val="000000"/>
                </a:solidFill>
                <a:latin typeface="Tahoma"/>
                <a:cs typeface="Tahoma"/>
              </a:rPr>
              <a:t>I:</a:t>
            </a:r>
            <a:r>
              <a:rPr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spc="-15" dirty="0">
                <a:solidFill>
                  <a:srgbClr val="000000"/>
                </a:solidFill>
                <a:latin typeface="Tahoma"/>
                <a:cs typeface="Tahoma"/>
              </a:rPr>
              <a:t>Problem Analysis , </a:t>
            </a:r>
            <a:r>
              <a:rPr lang="en-US" b="0" spc="-20" dirty="0">
                <a:solidFill>
                  <a:srgbClr val="000000"/>
                </a:solidFill>
              </a:rPr>
              <a:t>Project Proposal ,Design, Workflow</a:t>
            </a:r>
            <a:endParaRPr b="0" spc="-1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3282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spc="-50" dirty="0">
                <a:solidFill>
                  <a:srgbClr val="000000"/>
                </a:solidFill>
                <a:latin typeface="Tahoma"/>
                <a:cs typeface="Tahoma"/>
              </a:rPr>
              <a:t>II:</a:t>
            </a:r>
            <a:r>
              <a:rPr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Develop and implement of main features.</a:t>
            </a:r>
            <a:endParaRPr b="0" spc="-1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spc="-65" dirty="0">
                <a:solidFill>
                  <a:srgbClr val="000000"/>
                </a:solidFill>
                <a:latin typeface="Tahoma"/>
                <a:cs typeface="Tahoma"/>
              </a:rPr>
              <a:t>III:</a:t>
            </a:r>
            <a:r>
              <a:rPr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Testing of final system.</a:t>
            </a:r>
            <a:endParaRPr b="0" spc="-35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900"/>
              </a:spcBef>
            </a:pPr>
            <a:r>
              <a:rPr sz="1200" spc="-50" dirty="0"/>
              <a:t>Expected</a:t>
            </a:r>
            <a:r>
              <a:rPr sz="1200" spc="-10" dirty="0"/>
              <a:t> Outcomes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System to identify and group same emergency reports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To improve incident </a:t>
            </a:r>
            <a:r>
              <a:rPr lang="en-US" sz="1100" spc="-30" dirty="0" err="1">
                <a:solidFill>
                  <a:schemeClr val="tx1"/>
                </a:solidFill>
                <a:latin typeface="Arial"/>
                <a:cs typeface="Arial"/>
              </a:rPr>
              <a:t>Prioritisation</a:t>
            </a: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 System.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Can  be expand in </a:t>
            </a:r>
            <a:r>
              <a:rPr lang="en-US" sz="1100" spc="-30" dirty="0" err="1">
                <a:solidFill>
                  <a:schemeClr val="tx1"/>
                </a:solidFill>
                <a:latin typeface="Arial"/>
                <a:cs typeface="Arial"/>
              </a:rPr>
              <a:t>futurewith</a:t>
            </a: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 advance features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14298" y="466952"/>
            <a:ext cx="2398344" cy="4456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lang="en-US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+mj-lt"/>
              <a:buAutoNum type="arabicPeriod"/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0610" y="2654640"/>
            <a:ext cx="2302032" cy="335989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08164F-EEC6-9919-D839-F5B31A8EC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392964"/>
              </p:ext>
            </p:extLst>
          </p:nvPr>
        </p:nvGraphicFramePr>
        <p:xfrm>
          <a:off x="3105258" y="713361"/>
          <a:ext cx="2514600" cy="16681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662082164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1. Bjarne Stroustrup, The C++ Programming Language , Addison Wesley.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2. Thomas H. </a:t>
                      </a:r>
                      <a:r>
                        <a:rPr lang="en-IN" sz="900" dirty="0" err="1">
                          <a:effectLst/>
                        </a:rPr>
                        <a:t>Cormen</a:t>
                      </a:r>
                      <a:r>
                        <a:rPr lang="en-IN" sz="900" dirty="0">
                          <a:effectLst/>
                        </a:rPr>
                        <a:t>, Charles E. </a:t>
                      </a:r>
                      <a:r>
                        <a:rPr lang="en-IN" sz="900" dirty="0" err="1">
                          <a:effectLst/>
                        </a:rPr>
                        <a:t>Leiserson</a:t>
                      </a:r>
                      <a:r>
                        <a:rPr lang="en-IN" sz="900" dirty="0">
                          <a:effectLst/>
                        </a:rPr>
                        <a:t>, Ronald L. Rivest, Clifford Stein, Introduction to Algorithms , MIT Press.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3. </a:t>
                      </a:r>
                      <a:r>
                        <a:rPr lang="en-IN" sz="900" dirty="0" err="1">
                          <a:effectLst/>
                        </a:rPr>
                        <a:t>GeeksforGeeks</a:t>
                      </a:r>
                      <a:r>
                        <a:rPr lang="en-IN" sz="900" dirty="0">
                          <a:effectLst/>
                        </a:rPr>
                        <a:t> – Data Structures and Algorithms , C++ and Graph/DSU </a:t>
                      </a:r>
                      <a:r>
                        <a:rPr lang="en-IN" sz="900" dirty="0" err="1">
                          <a:effectLst/>
                        </a:rPr>
                        <a:t>concepts.a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4. </a:t>
                      </a:r>
                      <a:r>
                        <a:rPr lang="en-IN" sz="900" dirty="0" err="1">
                          <a:effectLst/>
                        </a:rPr>
                        <a:t>cppreference</a:t>
                      </a:r>
                      <a:r>
                        <a:rPr lang="en-IN" sz="900" dirty="0">
                          <a:effectLst/>
                        </a:rPr>
                        <a:t> — C++ language and Standard Library reference.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5. Materials related to the course lectures and laboratory of the Data Structures and Object-Oriented Programming .</a:t>
                      </a:r>
                      <a:endParaRPr lang="en-IN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9136" marR="29136" marT="26223" marB="26223"/>
                </a:tc>
                <a:extLst>
                  <a:ext uri="{0D108BD9-81ED-4DB2-BD59-A6C34878D82A}">
                    <a16:rowId xmlns:a16="http://schemas.microsoft.com/office/drawing/2014/main" val="384241493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620E12-9439-ECF6-C342-74AC3FEAB736}"/>
              </a:ext>
            </a:extLst>
          </p:cNvPr>
          <p:cNvSpPr/>
          <p:nvPr/>
        </p:nvSpPr>
        <p:spPr>
          <a:xfrm>
            <a:off x="90151" y="422410"/>
            <a:ext cx="2743200" cy="2549823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385637-9FD6-744B-5268-7294BAADA5C2}"/>
              </a:ext>
            </a:extLst>
          </p:cNvPr>
          <p:cNvSpPr/>
          <p:nvPr/>
        </p:nvSpPr>
        <p:spPr>
          <a:xfrm>
            <a:off x="3035300" y="422410"/>
            <a:ext cx="2640349" cy="2109079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938</Words>
  <Application>Microsoft Office PowerPoint</Application>
  <PresentationFormat>Custom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avika51110@outlook.com</cp:lastModifiedBy>
  <cp:revision>8</cp:revision>
  <dcterms:created xsi:type="dcterms:W3CDTF">2026-08-30T18:13:19Z</dcterms:created>
  <dcterms:modified xsi:type="dcterms:W3CDTF">2026-09-09T14:09:53Z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2026-08-30T00:00:00Z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